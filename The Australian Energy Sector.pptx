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6858000" cx="12192000"/>
  <p:notesSz cx="6858000" cy="9144000"/>
  <p:embeddedFontLst>
    <p:embeddedFont>
      <p:font typeface="Inter"/>
      <p:regular r:id="rId20"/>
      <p:bold r:id="rId21"/>
      <p:italic r:id="rId22"/>
      <p:boldItalic r:id="rId23"/>
    </p:embeddedFont>
    <p:embeddedFont>
      <p:font typeface="Poppins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regular.fntdata"/><Relationship Id="rId22" Type="http://schemas.openxmlformats.org/officeDocument/2006/relationships/font" Target="fonts/Inter-italic.fntdata"/><Relationship Id="rId21" Type="http://schemas.openxmlformats.org/officeDocument/2006/relationships/font" Target="fonts/Inter-bold.fntdata"/><Relationship Id="rId24" Type="http://schemas.openxmlformats.org/officeDocument/2006/relationships/font" Target="fonts/Poppins-regular.fntdata"/><Relationship Id="rId23" Type="http://schemas.openxmlformats.org/officeDocument/2006/relationships/font" Target="fonts/Inter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Poppins-italic.fntdata"/><Relationship Id="rId25" Type="http://schemas.openxmlformats.org/officeDocument/2006/relationships/font" Target="fonts/Poppins-bold.fntdata"/><Relationship Id="rId27" Type="http://schemas.openxmlformats.org/officeDocument/2006/relationships/font" Target="fonts/Poppi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21.png"/><Relationship Id="rId5" Type="http://schemas.openxmlformats.org/officeDocument/2006/relationships/image" Target="../media/image1.png"/><Relationship Id="rId6" Type="http://schemas.openxmlformats.org/officeDocument/2006/relationships/image" Target="../media/image19.png"/><Relationship Id="rId7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11" Type="http://schemas.openxmlformats.org/officeDocument/2006/relationships/image" Target="../media/image12.png"/><Relationship Id="rId10" Type="http://schemas.openxmlformats.org/officeDocument/2006/relationships/image" Target="../media/image8.png"/><Relationship Id="rId12" Type="http://schemas.openxmlformats.org/officeDocument/2006/relationships/image" Target="../media/image13.png"/><Relationship Id="rId9" Type="http://schemas.openxmlformats.org/officeDocument/2006/relationships/image" Target="../media/image37.png"/><Relationship Id="rId5" Type="http://schemas.openxmlformats.org/officeDocument/2006/relationships/image" Target="../media/image10.png"/><Relationship Id="rId6" Type="http://schemas.openxmlformats.org/officeDocument/2006/relationships/image" Target="../media/image14.png"/><Relationship Id="rId7" Type="http://schemas.openxmlformats.org/officeDocument/2006/relationships/image" Target="../media/image7.png"/><Relationship Id="rId8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9.png"/><Relationship Id="rId5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21.png"/><Relationship Id="rId5" Type="http://schemas.openxmlformats.org/officeDocument/2006/relationships/image" Target="../media/image1.png"/><Relationship Id="rId6" Type="http://schemas.openxmlformats.org/officeDocument/2006/relationships/image" Target="../media/image50.png"/><Relationship Id="rId7" Type="http://schemas.openxmlformats.org/officeDocument/2006/relationships/image" Target="../media/image4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18.png"/><Relationship Id="rId10" Type="http://schemas.openxmlformats.org/officeDocument/2006/relationships/image" Target="../media/image43.png"/><Relationship Id="rId9" Type="http://schemas.openxmlformats.org/officeDocument/2006/relationships/image" Target="../media/image41.png"/><Relationship Id="rId5" Type="http://schemas.openxmlformats.org/officeDocument/2006/relationships/image" Target="../media/image17.png"/><Relationship Id="rId6" Type="http://schemas.openxmlformats.org/officeDocument/2006/relationships/image" Target="../media/image22.png"/><Relationship Id="rId7" Type="http://schemas.openxmlformats.org/officeDocument/2006/relationships/image" Target="../media/image5.png"/><Relationship Id="rId8" Type="http://schemas.openxmlformats.org/officeDocument/2006/relationships/image" Target="../media/image4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21.png"/><Relationship Id="rId5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38.png"/><Relationship Id="rId5" Type="http://schemas.openxmlformats.org/officeDocument/2006/relationships/image" Target="../media/image2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Relationship Id="rId4" Type="http://schemas.openxmlformats.org/officeDocument/2006/relationships/image" Target="../media/image25.png"/><Relationship Id="rId9" Type="http://schemas.openxmlformats.org/officeDocument/2006/relationships/image" Target="../media/image39.png"/><Relationship Id="rId5" Type="http://schemas.openxmlformats.org/officeDocument/2006/relationships/image" Target="../media/image24.png"/><Relationship Id="rId6" Type="http://schemas.openxmlformats.org/officeDocument/2006/relationships/image" Target="../media/image29.png"/><Relationship Id="rId7" Type="http://schemas.openxmlformats.org/officeDocument/2006/relationships/image" Target="../media/image31.png"/><Relationship Id="rId8" Type="http://schemas.openxmlformats.org/officeDocument/2006/relationships/image" Target="../media/image3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Relationship Id="rId4" Type="http://schemas.openxmlformats.org/officeDocument/2006/relationships/image" Target="../media/image9.png"/><Relationship Id="rId5" Type="http://schemas.openxmlformats.org/officeDocument/2006/relationships/image" Target="../media/image4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Relationship Id="rId4" Type="http://schemas.openxmlformats.org/officeDocument/2006/relationships/image" Target="../media/image21.png"/><Relationship Id="rId5" Type="http://schemas.openxmlformats.org/officeDocument/2006/relationships/image" Target="../media/image1.png"/><Relationship Id="rId6" Type="http://schemas.openxmlformats.org/officeDocument/2006/relationships/image" Target="../media/image28.png"/><Relationship Id="rId7" Type="http://schemas.openxmlformats.org/officeDocument/2006/relationships/image" Target="../media/image4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Relationship Id="rId4" Type="http://schemas.openxmlformats.org/officeDocument/2006/relationships/image" Target="../media/image47.png"/><Relationship Id="rId5" Type="http://schemas.openxmlformats.org/officeDocument/2006/relationships/image" Target="../media/image27.png"/><Relationship Id="rId6" Type="http://schemas.openxmlformats.org/officeDocument/2006/relationships/image" Target="../media/image3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5.png"/><Relationship Id="rId4" Type="http://schemas.openxmlformats.org/officeDocument/2006/relationships/image" Target="../media/image33.png"/><Relationship Id="rId5" Type="http://schemas.openxmlformats.org/officeDocument/2006/relationships/image" Target="../media/image48.png"/><Relationship Id="rId6" Type="http://schemas.openxmlformats.org/officeDocument/2006/relationships/image" Target="../media/image49.png"/><Relationship Id="rId7" Type="http://schemas.openxmlformats.org/officeDocument/2006/relationships/image" Target="../media/image36.png"/><Relationship Id="rId8" Type="http://schemas.openxmlformats.org/officeDocument/2006/relationships/image" Target="../media/image4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809750" y="758279"/>
            <a:ext cx="85725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TAFE EDUCATOR CONTENT GENERATOR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1595437" y="1223069"/>
            <a:ext cx="9001125" cy="2925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The Australian Energy Sector: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8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 Systems, Standards, and Sustainability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1809750" y="4339530"/>
            <a:ext cx="85725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Unit Introduction &amp; Overview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3238500" y="5276701"/>
            <a:ext cx="571500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TAFE NSW acknowledges the Traditional Custodians of the Land, Rivers and Sea. We pay our respect to Elders, past, present and emerging of all Nations.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432470"/>
            <a:ext cx="5286375" cy="485402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432470"/>
            <a:ext cx="5286375" cy="4854029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962025" y="1822995"/>
            <a:ext cx="4730591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52425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What We Will Cover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962025" y="2383035"/>
            <a:ext cx="45053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This unit provides a comprehensive understanding of the Australian energy landscape. We will explore: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6724650" y="1822995"/>
            <a:ext cx="4730591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2385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Learning Outcomes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6724650" y="2383035"/>
            <a:ext cx="45053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By the end of this module, you will be able to:</a:t>
            </a:r>
            <a:endParaRPr/>
          </a:p>
        </p:txBody>
      </p:sp>
      <p:pic>
        <p:nvPicPr>
          <p:cNvPr descr="image.png" id="100" name="Google Shape;100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2025" y="1832520"/>
            <a:ext cx="25717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 txBox="1"/>
          <p:nvPr/>
        </p:nvSpPr>
        <p:spPr>
          <a:xfrm>
            <a:off x="1057275" y="3273563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1152525" y="3274516"/>
            <a:ext cx="43148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The complete energy supply chain from generation to retail.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1057275" y="3936444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1152525" y="3937396"/>
            <a:ext cx="43148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Regulatory bodies and who controls the grid.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1057275" y="4325034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1152525" y="4325987"/>
            <a:ext cx="43148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Technical reporting and compliance standards.</a:t>
            </a:r>
            <a:endParaRPr/>
          </a:p>
        </p:txBody>
      </p:sp>
      <p:pic>
        <p:nvPicPr>
          <p:cNvPr descr="image.png" id="107" name="Google Shape;107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724650" y="183252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4"/>
          <p:cNvSpPr txBox="1"/>
          <p:nvPr/>
        </p:nvSpPr>
        <p:spPr>
          <a:xfrm>
            <a:off x="6819900" y="2999273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6915150" y="3000226"/>
            <a:ext cx="43148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Navigate the National Electricity Market (NEM).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6819900" y="3387863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6915150" y="3388816"/>
            <a:ext cx="43148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Perform essential energy and cost calculations.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6819900" y="3776454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6915150" y="3777406"/>
            <a:ext cx="43148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Apply AS/NZS 3598 standards to energy audits.</a:t>
            </a:r>
            <a:endParaRPr/>
          </a:p>
        </p:txBody>
      </p:sp>
      <p:sp>
        <p:nvSpPr>
          <p:cNvPr id="114" name="Google Shape;114;p14"/>
          <p:cNvSpPr txBox="1"/>
          <p:nvPr/>
        </p:nvSpPr>
        <p:spPr>
          <a:xfrm>
            <a:off x="800100" y="571500"/>
            <a:ext cx="11361420" cy="479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Unit Overview</a:t>
            </a:r>
            <a:endParaRPr/>
          </a:p>
        </p:txBody>
      </p:sp>
      <p:sp>
        <p:nvSpPr>
          <p:cNvPr id="115" name="Google Shape;115;p14"/>
          <p:cNvSpPr/>
          <p:nvPr/>
        </p:nvSpPr>
        <p:spPr>
          <a:xfrm>
            <a:off x="571500" y="571500"/>
            <a:ext cx="57150" cy="47997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0" name="Google Shape;12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173634"/>
            <a:ext cx="2583656" cy="33717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93281" y="2173634"/>
            <a:ext cx="2583656" cy="33717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" name="Google Shape;123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15062" y="2173634"/>
            <a:ext cx="2583656" cy="33717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4" name="Google Shape;124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036843" y="2173634"/>
            <a:ext cx="2583656" cy="33717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5" name="Google Shape;125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482328" y="2468909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5"/>
          <p:cNvSpPr txBox="1"/>
          <p:nvPr/>
        </p:nvSpPr>
        <p:spPr>
          <a:xfrm>
            <a:off x="1178242" y="3421409"/>
            <a:ext cx="1370171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Generation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866775" y="3981450"/>
            <a:ext cx="1993106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Production of electricity from thermal (coal, gas) and renewable sources.</a:t>
            </a:r>
            <a:endParaRPr/>
          </a:p>
        </p:txBody>
      </p:sp>
      <p:pic>
        <p:nvPicPr>
          <p:cNvPr descr="image.png" id="128" name="Google Shape;128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304109" y="2468909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5"/>
          <p:cNvSpPr txBox="1"/>
          <p:nvPr/>
        </p:nvSpPr>
        <p:spPr>
          <a:xfrm>
            <a:off x="3865006" y="3421409"/>
            <a:ext cx="164020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Transmission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3688556" y="3981450"/>
            <a:ext cx="1993106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High voltage transport over long distances via large interconnectors.</a:t>
            </a:r>
            <a:endParaRPr/>
          </a:p>
        </p:txBody>
      </p:sp>
      <p:pic>
        <p:nvPicPr>
          <p:cNvPr descr="image.png" id="131" name="Google Shape;131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125890" y="2468909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5"/>
          <p:cNvSpPr txBox="1"/>
          <p:nvPr/>
        </p:nvSpPr>
        <p:spPr>
          <a:xfrm>
            <a:off x="6796801" y="3421409"/>
            <a:ext cx="1420177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Distribution</a:t>
            </a:r>
            <a:endParaRPr/>
          </a:p>
        </p:txBody>
      </p:sp>
      <p:sp>
        <p:nvSpPr>
          <p:cNvPr id="133" name="Google Shape;133;p15"/>
          <p:cNvSpPr txBox="1"/>
          <p:nvPr/>
        </p:nvSpPr>
        <p:spPr>
          <a:xfrm>
            <a:off x="6510337" y="3981450"/>
            <a:ext cx="1993106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The 'poles and wires' network stepping voltage down for local use.</a:t>
            </a:r>
            <a:endParaRPr/>
          </a:p>
        </p:txBody>
      </p:sp>
      <p:pic>
        <p:nvPicPr>
          <p:cNvPr descr="image.png" id="134" name="Google Shape;134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947671" y="2468909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5"/>
          <p:cNvSpPr txBox="1"/>
          <p:nvPr/>
        </p:nvSpPr>
        <p:spPr>
          <a:xfrm>
            <a:off x="9978628" y="3421409"/>
            <a:ext cx="700087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Retail</a:t>
            </a:r>
            <a:endParaRPr/>
          </a:p>
        </p:txBody>
      </p:sp>
      <p:sp>
        <p:nvSpPr>
          <p:cNvPr id="136" name="Google Shape;136;p15"/>
          <p:cNvSpPr txBox="1"/>
          <p:nvPr/>
        </p:nvSpPr>
        <p:spPr>
          <a:xfrm>
            <a:off x="9332118" y="3981450"/>
            <a:ext cx="1993106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Companies that manage customer accounts and billing.</a:t>
            </a:r>
            <a:endParaRPr/>
          </a:p>
        </p:txBody>
      </p:sp>
      <p:pic>
        <p:nvPicPr>
          <p:cNvPr descr="image.png" id="137" name="Google Shape;137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649015" y="2659409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8" name="Google Shape;138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470796" y="2659409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9" name="Google Shape;139;p1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340203" y="2659409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" name="Google Shape;140;p1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0185796" y="2659409"/>
            <a:ext cx="2857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5"/>
          <p:cNvSpPr txBox="1"/>
          <p:nvPr/>
        </p:nvSpPr>
        <p:spPr>
          <a:xfrm>
            <a:off x="800100" y="571500"/>
            <a:ext cx="11361420" cy="479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The Energy Supply Chain</a:t>
            </a:r>
            <a:endParaRPr/>
          </a:p>
        </p:txBody>
      </p:sp>
      <p:sp>
        <p:nvSpPr>
          <p:cNvPr id="142" name="Google Shape;142;p15"/>
          <p:cNvSpPr/>
          <p:nvPr/>
        </p:nvSpPr>
        <p:spPr>
          <a:xfrm>
            <a:off x="571500" y="571500"/>
            <a:ext cx="57150" cy="47997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7" name="Google Shape;14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8" name="Google Shape;148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432470"/>
            <a:ext cx="5286375" cy="4854029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6"/>
          <p:cNvSpPr txBox="1"/>
          <p:nvPr/>
        </p:nvSpPr>
        <p:spPr>
          <a:xfrm>
            <a:off x="571500" y="1432470"/>
            <a:ext cx="5550693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Connecting the East Coast</a:t>
            </a:r>
            <a:endParaRPr/>
          </a:p>
        </p:txBody>
      </p:sp>
      <p:sp>
        <p:nvSpPr>
          <p:cNvPr id="150" name="Google Shape;150;p16"/>
          <p:cNvSpPr txBox="1"/>
          <p:nvPr/>
        </p:nvSpPr>
        <p:spPr>
          <a:xfrm>
            <a:off x="571500" y="1878210"/>
            <a:ext cx="528637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The NEM is one of the world's longest interconnected power systems.</a:t>
            </a:r>
            <a:endParaRPr/>
          </a:p>
        </p:txBody>
      </p:sp>
      <p:pic>
        <p:nvPicPr>
          <p:cNvPr descr="image.png" id="151" name="Google Shape;151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432470"/>
            <a:ext cx="4733925" cy="27429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6"/>
          <p:cNvSpPr txBox="1"/>
          <p:nvPr/>
        </p:nvSpPr>
        <p:spPr>
          <a:xfrm>
            <a:off x="666750" y="2597288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53" name="Google Shape;153;p16"/>
          <p:cNvSpPr txBox="1"/>
          <p:nvPr/>
        </p:nvSpPr>
        <p:spPr>
          <a:xfrm>
            <a:off x="762000" y="2598241"/>
            <a:ext cx="50958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Scope: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Connects QLD, NSW, ACT, VIC, SA, and TAS.</a:t>
            </a:r>
            <a:endParaRPr/>
          </a:p>
        </p:txBody>
      </p:sp>
      <p:sp>
        <p:nvSpPr>
          <p:cNvPr id="154" name="Google Shape;154;p16"/>
          <p:cNvSpPr txBox="1"/>
          <p:nvPr/>
        </p:nvSpPr>
        <p:spPr>
          <a:xfrm>
            <a:off x="666750" y="2985879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55" name="Google Shape;155;p16"/>
          <p:cNvSpPr txBox="1"/>
          <p:nvPr/>
        </p:nvSpPr>
        <p:spPr>
          <a:xfrm>
            <a:off x="762000" y="2986831"/>
            <a:ext cx="509587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Function: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A wholesale market facilitating exchange between generators and retailers.</a:t>
            </a:r>
            <a:endParaRPr/>
          </a:p>
        </p:txBody>
      </p:sp>
      <p:sp>
        <p:nvSpPr>
          <p:cNvPr id="156" name="Google Shape;156;p16"/>
          <p:cNvSpPr txBox="1"/>
          <p:nvPr/>
        </p:nvSpPr>
        <p:spPr>
          <a:xfrm>
            <a:off x="666750" y="3648759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57" name="Google Shape;157;p16"/>
          <p:cNvSpPr txBox="1"/>
          <p:nvPr/>
        </p:nvSpPr>
        <p:spPr>
          <a:xfrm>
            <a:off x="762000" y="3649712"/>
            <a:ext cx="50958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Note: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WA and NT operate separate grid systems.</a:t>
            </a:r>
            <a:endParaRPr/>
          </a:p>
        </p:txBody>
      </p:sp>
      <p:sp>
        <p:nvSpPr>
          <p:cNvPr id="158" name="Google Shape;158;p16"/>
          <p:cNvSpPr txBox="1"/>
          <p:nvPr/>
        </p:nvSpPr>
        <p:spPr>
          <a:xfrm>
            <a:off x="800100" y="571500"/>
            <a:ext cx="11361420" cy="479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The National Electricity Market (NEM)</a:t>
            </a:r>
            <a:endParaRPr/>
          </a:p>
        </p:txBody>
      </p:sp>
      <p:sp>
        <p:nvSpPr>
          <p:cNvPr id="159" name="Google Shape;159;p16"/>
          <p:cNvSpPr/>
          <p:nvPr/>
        </p:nvSpPr>
        <p:spPr>
          <a:xfrm>
            <a:off x="571500" y="571500"/>
            <a:ext cx="57150" cy="47997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4" name="Google Shape;16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5" name="Google Shape;165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432470"/>
            <a:ext cx="5286375" cy="485402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6" name="Google Shape;166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432470"/>
            <a:ext cx="5286375" cy="4854029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7"/>
          <p:cNvSpPr txBox="1"/>
          <p:nvPr/>
        </p:nvSpPr>
        <p:spPr>
          <a:xfrm>
            <a:off x="962025" y="1822995"/>
            <a:ext cx="4730591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95275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Thermal Generation</a:t>
            </a:r>
            <a:endParaRPr/>
          </a:p>
        </p:txBody>
      </p:sp>
      <p:sp>
        <p:nvSpPr>
          <p:cNvPr id="168" name="Google Shape;168;p17"/>
          <p:cNvSpPr txBox="1"/>
          <p:nvPr/>
        </p:nvSpPr>
        <p:spPr>
          <a:xfrm>
            <a:off x="6724650" y="1822995"/>
            <a:ext cx="4730591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2385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Renewable Generation</a:t>
            </a:r>
            <a:endParaRPr/>
          </a:p>
        </p:txBody>
      </p:sp>
      <p:pic>
        <p:nvPicPr>
          <p:cNvPr descr="image.png" id="169" name="Google Shape;169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2025" y="1832520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7"/>
          <p:cNvSpPr txBox="1"/>
          <p:nvPr/>
        </p:nvSpPr>
        <p:spPr>
          <a:xfrm>
            <a:off x="1057275" y="2382083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71" name="Google Shape;171;p17"/>
          <p:cNvSpPr txBox="1"/>
          <p:nvPr/>
        </p:nvSpPr>
        <p:spPr>
          <a:xfrm>
            <a:off x="1152525" y="2383035"/>
            <a:ext cx="43148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Base Load: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Historically coal-fired stations running continuously to meet minimum demand.</a:t>
            </a:r>
            <a:endParaRPr/>
          </a:p>
        </p:txBody>
      </p:sp>
      <p:sp>
        <p:nvSpPr>
          <p:cNvPr id="172" name="Google Shape;172;p17"/>
          <p:cNvSpPr txBox="1"/>
          <p:nvPr/>
        </p:nvSpPr>
        <p:spPr>
          <a:xfrm>
            <a:off x="1057275" y="3044963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73" name="Google Shape;173;p17"/>
          <p:cNvSpPr txBox="1"/>
          <p:nvPr/>
        </p:nvSpPr>
        <p:spPr>
          <a:xfrm>
            <a:off x="1152525" y="3045916"/>
            <a:ext cx="43148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Peaking Plants: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Gas turbines used during high-demand events (e.g., heatwaves).</a:t>
            </a:r>
            <a:endParaRPr/>
          </a:p>
        </p:txBody>
      </p:sp>
      <p:sp>
        <p:nvSpPr>
          <p:cNvPr id="174" name="Google Shape;174;p17"/>
          <p:cNvSpPr txBox="1"/>
          <p:nvPr/>
        </p:nvSpPr>
        <p:spPr>
          <a:xfrm>
            <a:off x="1057275" y="3707844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75" name="Google Shape;175;p17"/>
          <p:cNvSpPr txBox="1"/>
          <p:nvPr/>
        </p:nvSpPr>
        <p:spPr>
          <a:xfrm>
            <a:off x="1152525" y="3708796"/>
            <a:ext cx="43148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Dispatchability: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High ability to turn on/off on command.</a:t>
            </a:r>
            <a:endParaRPr/>
          </a:p>
        </p:txBody>
      </p:sp>
      <p:pic>
        <p:nvPicPr>
          <p:cNvPr descr="image.png" id="176" name="Google Shape;176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724650" y="183252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7"/>
          <p:cNvSpPr txBox="1"/>
          <p:nvPr/>
        </p:nvSpPr>
        <p:spPr>
          <a:xfrm>
            <a:off x="6819900" y="2382083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78" name="Google Shape;178;p17"/>
          <p:cNvSpPr txBox="1"/>
          <p:nvPr/>
        </p:nvSpPr>
        <p:spPr>
          <a:xfrm>
            <a:off x="6915150" y="2383035"/>
            <a:ext cx="43148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Variable Renewable Energy (VRE):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Solar and wind, dependent on weather conditions.</a:t>
            </a:r>
            <a:endParaRPr/>
          </a:p>
        </p:txBody>
      </p:sp>
      <p:sp>
        <p:nvSpPr>
          <p:cNvPr id="179" name="Google Shape;179;p17"/>
          <p:cNvSpPr txBox="1"/>
          <p:nvPr/>
        </p:nvSpPr>
        <p:spPr>
          <a:xfrm>
            <a:off x="6819900" y="3044963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80" name="Google Shape;180;p17"/>
          <p:cNvSpPr txBox="1"/>
          <p:nvPr/>
        </p:nvSpPr>
        <p:spPr>
          <a:xfrm>
            <a:off x="6915150" y="3045916"/>
            <a:ext cx="43148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Transition: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Moving from centralized fossil fuels to decentralized renewables.</a:t>
            </a:r>
            <a:endParaRPr/>
          </a:p>
        </p:txBody>
      </p:sp>
      <p:sp>
        <p:nvSpPr>
          <p:cNvPr id="181" name="Google Shape;181;p17"/>
          <p:cNvSpPr txBox="1"/>
          <p:nvPr/>
        </p:nvSpPr>
        <p:spPr>
          <a:xfrm>
            <a:off x="6819900" y="3707844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82" name="Google Shape;182;p17"/>
          <p:cNvSpPr txBox="1"/>
          <p:nvPr/>
        </p:nvSpPr>
        <p:spPr>
          <a:xfrm>
            <a:off x="6915150" y="3708796"/>
            <a:ext cx="43148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Challenge: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Requires storage to ensure reliability.</a:t>
            </a:r>
            <a:endParaRPr/>
          </a:p>
        </p:txBody>
      </p:sp>
      <p:sp>
        <p:nvSpPr>
          <p:cNvPr id="183" name="Google Shape;183;p17"/>
          <p:cNvSpPr txBox="1"/>
          <p:nvPr/>
        </p:nvSpPr>
        <p:spPr>
          <a:xfrm>
            <a:off x="800100" y="571500"/>
            <a:ext cx="11361420" cy="479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Power Generation: Thermal vs. Renewable</a:t>
            </a:r>
            <a:endParaRPr/>
          </a:p>
        </p:txBody>
      </p:sp>
      <p:sp>
        <p:nvSpPr>
          <p:cNvPr id="184" name="Google Shape;184;p17"/>
          <p:cNvSpPr/>
          <p:nvPr/>
        </p:nvSpPr>
        <p:spPr>
          <a:xfrm>
            <a:off x="571500" y="571500"/>
            <a:ext cx="57150" cy="47997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9" name="Google Shape;18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18"/>
          <p:cNvSpPr txBox="1"/>
          <p:nvPr/>
        </p:nvSpPr>
        <p:spPr>
          <a:xfrm>
            <a:off x="990600" y="1089868"/>
            <a:ext cx="4560570" cy="959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The Renewable Transition</a:t>
            </a:r>
            <a:endParaRPr/>
          </a:p>
        </p:txBody>
      </p:sp>
      <p:sp>
        <p:nvSpPr>
          <p:cNvPr id="191" name="Google Shape;191;p18"/>
          <p:cNvSpPr/>
          <p:nvPr/>
        </p:nvSpPr>
        <p:spPr>
          <a:xfrm>
            <a:off x="762000" y="1089868"/>
            <a:ext cx="57150" cy="959941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92" name="Google Shape;192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18"/>
          <p:cNvSpPr txBox="1"/>
          <p:nvPr/>
        </p:nvSpPr>
        <p:spPr>
          <a:xfrm>
            <a:off x="762000" y="2430809"/>
            <a:ext cx="48006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From Centralized to Distributed</a:t>
            </a:r>
            <a:endParaRPr/>
          </a:p>
        </p:txBody>
      </p:sp>
      <p:sp>
        <p:nvSpPr>
          <p:cNvPr id="194" name="Google Shape;194;p18"/>
          <p:cNvSpPr txBox="1"/>
          <p:nvPr/>
        </p:nvSpPr>
        <p:spPr>
          <a:xfrm>
            <a:off x="762000" y="2990850"/>
            <a:ext cx="45720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The grid is transforming physically and operationally.</a:t>
            </a:r>
            <a:endParaRPr/>
          </a:p>
        </p:txBody>
      </p:sp>
      <p:sp>
        <p:nvSpPr>
          <p:cNvPr id="195" name="Google Shape;195;p18"/>
          <p:cNvSpPr txBox="1"/>
          <p:nvPr/>
        </p:nvSpPr>
        <p:spPr>
          <a:xfrm>
            <a:off x="857250" y="3607087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96" name="Google Shape;196;p18"/>
          <p:cNvSpPr txBox="1"/>
          <p:nvPr/>
        </p:nvSpPr>
        <p:spPr>
          <a:xfrm>
            <a:off x="952500" y="3608040"/>
            <a:ext cx="43815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NSW Roadmap: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Construction of Renewable Energy Zones (REZs).</a:t>
            </a:r>
            <a:endParaRPr/>
          </a:p>
        </p:txBody>
      </p:sp>
      <p:sp>
        <p:nvSpPr>
          <p:cNvPr id="197" name="Google Shape;197;p18"/>
          <p:cNvSpPr txBox="1"/>
          <p:nvPr/>
        </p:nvSpPr>
        <p:spPr>
          <a:xfrm>
            <a:off x="857250" y="4269968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98" name="Google Shape;198;p18"/>
          <p:cNvSpPr txBox="1"/>
          <p:nvPr/>
        </p:nvSpPr>
        <p:spPr>
          <a:xfrm>
            <a:off x="952500" y="4270920"/>
            <a:ext cx="43815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Storage: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Critical role of Grid-scale Batteries and Pumped Hydro (e.g., Snowy 2.0).</a:t>
            </a:r>
            <a:endParaRPr/>
          </a:p>
        </p:txBody>
      </p:sp>
      <p:sp>
        <p:nvSpPr>
          <p:cNvPr id="199" name="Google Shape;199;p18"/>
          <p:cNvSpPr txBox="1"/>
          <p:nvPr/>
        </p:nvSpPr>
        <p:spPr>
          <a:xfrm>
            <a:off x="857250" y="4932848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00" name="Google Shape;200;p18"/>
          <p:cNvSpPr txBox="1"/>
          <p:nvPr/>
        </p:nvSpPr>
        <p:spPr>
          <a:xfrm>
            <a:off x="952500" y="4933801"/>
            <a:ext cx="43815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Prosumers: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Rooftop solar turning consumers into producers (DER).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5" name="Google Shape;20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6" name="Google Shape;206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139255"/>
            <a:ext cx="3524250" cy="34403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7" name="Google Shape;207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33875" y="2139255"/>
            <a:ext cx="3524250" cy="34403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8" name="Google Shape;208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96250" y="2139255"/>
            <a:ext cx="3524250" cy="34403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9" name="Google Shape;209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952625" y="2434530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19"/>
          <p:cNvSpPr txBox="1"/>
          <p:nvPr/>
        </p:nvSpPr>
        <p:spPr>
          <a:xfrm>
            <a:off x="1978580" y="3387030"/>
            <a:ext cx="710088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AEMO</a:t>
            </a:r>
            <a:endParaRPr/>
          </a:p>
        </p:txBody>
      </p:sp>
      <p:sp>
        <p:nvSpPr>
          <p:cNvPr id="211" name="Google Shape;211;p19"/>
          <p:cNvSpPr txBox="1"/>
          <p:nvPr/>
        </p:nvSpPr>
        <p:spPr>
          <a:xfrm>
            <a:off x="1962150" y="3947070"/>
            <a:ext cx="7429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Operator</a:t>
            </a:r>
            <a:endParaRPr/>
          </a:p>
        </p:txBody>
      </p:sp>
      <p:sp>
        <p:nvSpPr>
          <p:cNvPr id="212" name="Google Shape;212;p19"/>
          <p:cNvSpPr txBox="1"/>
          <p:nvPr/>
        </p:nvSpPr>
        <p:spPr>
          <a:xfrm>
            <a:off x="866775" y="4564260"/>
            <a:ext cx="29337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Manages day-to-day systems and market clearing.</a:t>
            </a:r>
            <a:endParaRPr/>
          </a:p>
        </p:txBody>
      </p:sp>
      <p:pic>
        <p:nvPicPr>
          <p:cNvPr descr="image.png" id="213" name="Google Shape;213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0" y="2434530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19"/>
          <p:cNvSpPr txBox="1"/>
          <p:nvPr/>
        </p:nvSpPr>
        <p:spPr>
          <a:xfrm>
            <a:off x="5865971" y="3387030"/>
            <a:ext cx="460057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AER</a:t>
            </a:r>
            <a:endParaRPr/>
          </a:p>
        </p:txBody>
      </p:sp>
      <p:sp>
        <p:nvSpPr>
          <p:cNvPr id="215" name="Google Shape;215;p19"/>
          <p:cNvSpPr txBox="1"/>
          <p:nvPr/>
        </p:nvSpPr>
        <p:spPr>
          <a:xfrm>
            <a:off x="5691187" y="3947070"/>
            <a:ext cx="8096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Regulator</a:t>
            </a:r>
            <a:endParaRPr/>
          </a:p>
        </p:txBody>
      </p:sp>
      <p:sp>
        <p:nvSpPr>
          <p:cNvPr id="216" name="Google Shape;216;p19"/>
          <p:cNvSpPr txBox="1"/>
          <p:nvPr/>
        </p:nvSpPr>
        <p:spPr>
          <a:xfrm>
            <a:off x="4629150" y="4564260"/>
            <a:ext cx="29337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Enforces rules, monitors markets, and sets price ceilings.</a:t>
            </a:r>
            <a:endParaRPr/>
          </a:p>
        </p:txBody>
      </p:sp>
      <p:pic>
        <p:nvPicPr>
          <p:cNvPr descr="image.png" id="217" name="Google Shape;217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477375" y="2434530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19"/>
          <p:cNvSpPr txBox="1"/>
          <p:nvPr/>
        </p:nvSpPr>
        <p:spPr>
          <a:xfrm>
            <a:off x="9503330" y="3387030"/>
            <a:ext cx="710088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AEMC</a:t>
            </a:r>
            <a:endParaRPr/>
          </a:p>
        </p:txBody>
      </p:sp>
      <p:sp>
        <p:nvSpPr>
          <p:cNvPr id="219" name="Google Shape;219;p19"/>
          <p:cNvSpPr txBox="1"/>
          <p:nvPr/>
        </p:nvSpPr>
        <p:spPr>
          <a:xfrm>
            <a:off x="9391650" y="3947070"/>
            <a:ext cx="9334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Rule Maker</a:t>
            </a:r>
            <a:endParaRPr/>
          </a:p>
        </p:txBody>
      </p:sp>
      <p:sp>
        <p:nvSpPr>
          <p:cNvPr id="220" name="Google Shape;220;p19"/>
          <p:cNvSpPr txBox="1"/>
          <p:nvPr/>
        </p:nvSpPr>
        <p:spPr>
          <a:xfrm>
            <a:off x="8391525" y="4564260"/>
            <a:ext cx="29337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Develops amendments to the National Electricity Rules.</a:t>
            </a:r>
            <a:endParaRPr/>
          </a:p>
        </p:txBody>
      </p:sp>
      <p:pic>
        <p:nvPicPr>
          <p:cNvPr descr="image.png" id="221" name="Google Shape;221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143125" y="262503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2" name="Google Shape;222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905500" y="262503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3" name="Google Shape;223;p1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691687" y="2625030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19"/>
          <p:cNvSpPr txBox="1"/>
          <p:nvPr/>
        </p:nvSpPr>
        <p:spPr>
          <a:xfrm>
            <a:off x="800100" y="571500"/>
            <a:ext cx="11361420" cy="479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Who Rules the Grid?</a:t>
            </a:r>
            <a:endParaRPr/>
          </a:p>
        </p:txBody>
      </p:sp>
      <p:sp>
        <p:nvSpPr>
          <p:cNvPr id="225" name="Google Shape;225;p19"/>
          <p:cNvSpPr/>
          <p:nvPr/>
        </p:nvSpPr>
        <p:spPr>
          <a:xfrm>
            <a:off x="571500" y="571500"/>
            <a:ext cx="57150" cy="47997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0" name="Google Shape;23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1" name="Google Shape;231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432470"/>
            <a:ext cx="5286375" cy="485402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2" name="Google Shape;232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432470"/>
            <a:ext cx="5286375" cy="4854029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0"/>
          <p:cNvSpPr txBox="1"/>
          <p:nvPr/>
        </p:nvSpPr>
        <p:spPr>
          <a:xfrm>
            <a:off x="962025" y="1822995"/>
            <a:ext cx="4730591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Understanding Tariffs</a:t>
            </a:r>
            <a:endParaRPr/>
          </a:p>
        </p:txBody>
      </p:sp>
      <p:sp>
        <p:nvSpPr>
          <p:cNvPr id="234" name="Google Shape;234;p20"/>
          <p:cNvSpPr txBox="1"/>
          <p:nvPr/>
        </p:nvSpPr>
        <p:spPr>
          <a:xfrm>
            <a:off x="6724650" y="1822995"/>
            <a:ext cx="4730591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Physics Fundamentals</a:t>
            </a:r>
            <a:endParaRPr/>
          </a:p>
        </p:txBody>
      </p:sp>
      <p:sp>
        <p:nvSpPr>
          <p:cNvPr id="235" name="Google Shape;235;p20"/>
          <p:cNvSpPr txBox="1"/>
          <p:nvPr/>
        </p:nvSpPr>
        <p:spPr>
          <a:xfrm>
            <a:off x="1057275" y="2382083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36" name="Google Shape;236;p20"/>
          <p:cNvSpPr txBox="1"/>
          <p:nvPr/>
        </p:nvSpPr>
        <p:spPr>
          <a:xfrm>
            <a:off x="1152525" y="2383035"/>
            <a:ext cx="43148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Daily Supply Charge: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Fixed cost (c/day) for connection.</a:t>
            </a:r>
            <a:endParaRPr/>
          </a:p>
        </p:txBody>
      </p:sp>
      <p:sp>
        <p:nvSpPr>
          <p:cNvPr id="237" name="Google Shape;237;p20"/>
          <p:cNvSpPr txBox="1"/>
          <p:nvPr/>
        </p:nvSpPr>
        <p:spPr>
          <a:xfrm>
            <a:off x="1057275" y="3044963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38" name="Google Shape;238;p20"/>
          <p:cNvSpPr txBox="1"/>
          <p:nvPr/>
        </p:nvSpPr>
        <p:spPr>
          <a:xfrm>
            <a:off x="1152525" y="3045916"/>
            <a:ext cx="43148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Usage Charge: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Cost per unit (c/kWh).</a:t>
            </a:r>
            <a:endParaRPr/>
          </a:p>
        </p:txBody>
      </p:sp>
      <p:sp>
        <p:nvSpPr>
          <p:cNvPr id="239" name="Google Shape;239;p20"/>
          <p:cNvSpPr txBox="1"/>
          <p:nvPr/>
        </p:nvSpPr>
        <p:spPr>
          <a:xfrm>
            <a:off x="1057275" y="3433554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40" name="Google Shape;240;p20"/>
          <p:cNvSpPr txBox="1"/>
          <p:nvPr/>
        </p:nvSpPr>
        <p:spPr>
          <a:xfrm>
            <a:off x="1152525" y="3434506"/>
            <a:ext cx="43148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Time of Use (TOU):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Rates vary by Peak, Shoulder, and Off-Peak times.</a:t>
            </a:r>
            <a:endParaRPr/>
          </a:p>
        </p:txBody>
      </p:sp>
      <p:sp>
        <p:nvSpPr>
          <p:cNvPr id="241" name="Google Shape;241;p20"/>
          <p:cNvSpPr txBox="1"/>
          <p:nvPr/>
        </p:nvSpPr>
        <p:spPr>
          <a:xfrm>
            <a:off x="1057275" y="4096434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42" name="Google Shape;242;p20"/>
          <p:cNvSpPr txBox="1"/>
          <p:nvPr/>
        </p:nvSpPr>
        <p:spPr>
          <a:xfrm>
            <a:off x="1152525" y="4097387"/>
            <a:ext cx="43148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Controlled Load: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Specific tariffs for heavy appliances (hot water).</a:t>
            </a:r>
            <a:endParaRPr/>
          </a:p>
        </p:txBody>
      </p:sp>
      <p:sp>
        <p:nvSpPr>
          <p:cNvPr id="243" name="Google Shape;243;p20"/>
          <p:cNvSpPr txBox="1"/>
          <p:nvPr/>
        </p:nvSpPr>
        <p:spPr>
          <a:xfrm>
            <a:off x="6819900" y="2382083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44" name="Google Shape;244;p20"/>
          <p:cNvSpPr txBox="1"/>
          <p:nvPr/>
        </p:nvSpPr>
        <p:spPr>
          <a:xfrm>
            <a:off x="6915150" y="2383035"/>
            <a:ext cx="43148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Power (kW):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Rate of energy use (Speed).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1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1 kW = 1,000 Watts</a:t>
            </a:r>
            <a:endParaRPr/>
          </a:p>
        </p:txBody>
      </p:sp>
      <p:sp>
        <p:nvSpPr>
          <p:cNvPr id="245" name="Google Shape;245;p20"/>
          <p:cNvSpPr txBox="1"/>
          <p:nvPr/>
        </p:nvSpPr>
        <p:spPr>
          <a:xfrm>
            <a:off x="6819900" y="3044963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46" name="Google Shape;246;p20"/>
          <p:cNvSpPr txBox="1"/>
          <p:nvPr/>
        </p:nvSpPr>
        <p:spPr>
          <a:xfrm>
            <a:off x="6915150" y="3045916"/>
            <a:ext cx="43148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Energy (kWh):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Total work done (Distance).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1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1 kWh = 1 kW load for 1 hour</a:t>
            </a:r>
            <a:endParaRPr/>
          </a:p>
        </p:txBody>
      </p:sp>
      <p:sp>
        <p:nvSpPr>
          <p:cNvPr id="247" name="Google Shape;247;p20"/>
          <p:cNvSpPr txBox="1"/>
          <p:nvPr/>
        </p:nvSpPr>
        <p:spPr>
          <a:xfrm>
            <a:off x="6819900" y="3707844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48" name="Google Shape;248;p20"/>
          <p:cNvSpPr txBox="1"/>
          <p:nvPr/>
        </p:nvSpPr>
        <p:spPr>
          <a:xfrm>
            <a:off x="6915150" y="3708796"/>
            <a:ext cx="43148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Scale: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MW (Mega) and GW (Giga) used for grid scale.</a:t>
            </a:r>
            <a:endParaRPr/>
          </a:p>
        </p:txBody>
      </p:sp>
      <p:sp>
        <p:nvSpPr>
          <p:cNvPr id="249" name="Google Shape;249;p20"/>
          <p:cNvSpPr txBox="1"/>
          <p:nvPr/>
        </p:nvSpPr>
        <p:spPr>
          <a:xfrm>
            <a:off x="800100" y="571500"/>
            <a:ext cx="11361420" cy="479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Energy Pricing &amp; Physics</a:t>
            </a:r>
            <a:endParaRPr/>
          </a:p>
        </p:txBody>
      </p:sp>
      <p:sp>
        <p:nvSpPr>
          <p:cNvPr id="250" name="Google Shape;250;p20"/>
          <p:cNvSpPr/>
          <p:nvPr/>
        </p:nvSpPr>
        <p:spPr>
          <a:xfrm>
            <a:off x="571500" y="571500"/>
            <a:ext cx="57150" cy="47997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5" name="Google Shape;25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6" name="Google Shape;256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432470"/>
            <a:ext cx="5286375" cy="485402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7" name="Google Shape;257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432470"/>
            <a:ext cx="5286375" cy="4854029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21"/>
          <p:cNvSpPr txBox="1"/>
          <p:nvPr/>
        </p:nvSpPr>
        <p:spPr>
          <a:xfrm>
            <a:off x="962025" y="1822995"/>
            <a:ext cx="4730591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EA5E9"/>
                </a:solidFill>
                <a:latin typeface="Poppins"/>
                <a:ea typeface="Poppins"/>
                <a:cs typeface="Poppins"/>
                <a:sym typeface="Poppins"/>
              </a:rPr>
              <a:t>The Formulas</a:t>
            </a:r>
            <a:endParaRPr/>
          </a:p>
        </p:txBody>
      </p:sp>
      <p:sp>
        <p:nvSpPr>
          <p:cNvPr id="259" name="Google Shape;259;p21"/>
          <p:cNvSpPr txBox="1"/>
          <p:nvPr/>
        </p:nvSpPr>
        <p:spPr>
          <a:xfrm>
            <a:off x="962025" y="2268735"/>
            <a:ext cx="45053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1. Calculate Energy</a:t>
            </a:r>
            <a:endParaRPr/>
          </a:p>
        </p:txBody>
      </p:sp>
      <p:sp>
        <p:nvSpPr>
          <p:cNvPr id="260" name="Google Shape;260;p21"/>
          <p:cNvSpPr txBox="1"/>
          <p:nvPr/>
        </p:nvSpPr>
        <p:spPr>
          <a:xfrm>
            <a:off x="962025" y="2771626"/>
            <a:ext cx="4505325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 E  (  kWh  )  =  P  (  kW  )  ×  t  (  hours  )  </a:t>
            </a:r>
            <a:endParaRPr/>
          </a:p>
        </p:txBody>
      </p:sp>
      <p:sp>
        <p:nvSpPr>
          <p:cNvPr id="261" name="Google Shape;261;p21"/>
          <p:cNvSpPr txBox="1"/>
          <p:nvPr/>
        </p:nvSpPr>
        <p:spPr>
          <a:xfrm>
            <a:off x="962025" y="3423046"/>
            <a:ext cx="45053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2. Calculate Cost</a:t>
            </a:r>
            <a:endParaRPr/>
          </a:p>
        </p:txBody>
      </p:sp>
      <p:sp>
        <p:nvSpPr>
          <p:cNvPr id="262" name="Google Shape;262;p21"/>
          <p:cNvSpPr txBox="1"/>
          <p:nvPr/>
        </p:nvSpPr>
        <p:spPr>
          <a:xfrm>
            <a:off x="962025" y="3925937"/>
            <a:ext cx="4505325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 Cost  =  E  ×  Rate  </a:t>
            </a:r>
            <a:endParaRPr/>
          </a:p>
        </p:txBody>
      </p:sp>
      <p:sp>
        <p:nvSpPr>
          <p:cNvPr id="263" name="Google Shape;263;p21"/>
          <p:cNvSpPr txBox="1"/>
          <p:nvPr/>
        </p:nvSpPr>
        <p:spPr>
          <a:xfrm>
            <a:off x="6724650" y="1822995"/>
            <a:ext cx="4730591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369A1"/>
                </a:solidFill>
                <a:latin typeface="Poppins"/>
                <a:ea typeface="Poppins"/>
                <a:cs typeface="Poppins"/>
                <a:sym typeface="Poppins"/>
              </a:rPr>
              <a:t>Example Scenario</a:t>
            </a:r>
            <a:endParaRPr/>
          </a:p>
        </p:txBody>
      </p:sp>
      <p:sp>
        <p:nvSpPr>
          <p:cNvPr id="264" name="Google Shape;264;p21"/>
          <p:cNvSpPr txBox="1"/>
          <p:nvPr/>
        </p:nvSpPr>
        <p:spPr>
          <a:xfrm>
            <a:off x="6724650" y="2268735"/>
            <a:ext cx="45053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 </a:t>
            </a:r>
            <a:r>
              <a:rPr b="1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2.4kW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heater runs for </a:t>
            </a:r>
            <a:r>
              <a:rPr b="1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4 hours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. The electricity rate is </a:t>
            </a:r>
            <a:r>
              <a:rPr b="1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$0.30/kWh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265" name="Google Shape;265;p21"/>
          <p:cNvSpPr txBox="1"/>
          <p:nvPr/>
        </p:nvSpPr>
        <p:spPr>
          <a:xfrm>
            <a:off x="6724650" y="3207841"/>
            <a:ext cx="45053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Step 1: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Energy = 2.4 × 4 = </a:t>
            </a:r>
            <a:r>
              <a:rPr b="1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9.6 kWh</a:t>
            </a:r>
            <a:endParaRPr/>
          </a:p>
        </p:txBody>
      </p:sp>
      <p:sp>
        <p:nvSpPr>
          <p:cNvPr id="266" name="Google Shape;266;p21"/>
          <p:cNvSpPr txBox="1"/>
          <p:nvPr/>
        </p:nvSpPr>
        <p:spPr>
          <a:xfrm>
            <a:off x="6724650" y="3653581"/>
            <a:ext cx="45053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Step 2: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Cost = 9.6 × 0.30 = </a:t>
            </a:r>
            <a:r>
              <a:rPr b="1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$2.88</a:t>
            </a:r>
            <a:endParaRPr/>
          </a:p>
        </p:txBody>
      </p:sp>
      <p:sp>
        <p:nvSpPr>
          <p:cNvPr id="267" name="Google Shape;267;p21"/>
          <p:cNvSpPr txBox="1"/>
          <p:nvPr/>
        </p:nvSpPr>
        <p:spPr>
          <a:xfrm>
            <a:off x="800100" y="571500"/>
            <a:ext cx="11361420" cy="479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Calculation: Consumption &amp; Cost</a:t>
            </a:r>
            <a:endParaRPr/>
          </a:p>
        </p:txBody>
      </p:sp>
      <p:sp>
        <p:nvSpPr>
          <p:cNvPr id="268" name="Google Shape;268;p21"/>
          <p:cNvSpPr/>
          <p:nvPr/>
        </p:nvSpPr>
        <p:spPr>
          <a:xfrm>
            <a:off x="571500" y="571500"/>
            <a:ext cx="57150" cy="47997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3" name="Google Shape;27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4" name="Google Shape;274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124075"/>
            <a:ext cx="3492400" cy="34708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5" name="Google Shape;275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650" y="2124075"/>
            <a:ext cx="3492549" cy="34708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6" name="Google Shape;276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7950" y="2124075"/>
            <a:ext cx="3492400" cy="34708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7" name="Google Shape;277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025" y="2133600"/>
            <a:ext cx="3473350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2"/>
          <p:cNvSpPr txBox="1"/>
          <p:nvPr/>
        </p:nvSpPr>
        <p:spPr>
          <a:xfrm>
            <a:off x="694216" y="4229100"/>
            <a:ext cx="3246968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Type 1: Basic</a:t>
            </a:r>
            <a:endParaRPr/>
          </a:p>
        </p:txBody>
      </p:sp>
      <p:sp>
        <p:nvSpPr>
          <p:cNvPr id="279" name="Google Shape;279;p22"/>
          <p:cNvSpPr txBox="1"/>
          <p:nvPr/>
        </p:nvSpPr>
        <p:spPr>
          <a:xfrm>
            <a:off x="771525" y="4674840"/>
            <a:ext cx="30923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High-level overview, desktop analysis of bills, +/- 40% accuracy.</a:t>
            </a:r>
            <a:endParaRPr/>
          </a:p>
        </p:txBody>
      </p:sp>
      <p:pic>
        <p:nvPicPr>
          <p:cNvPr descr="image.png" id="280" name="Google Shape;280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359175" y="2133600"/>
            <a:ext cx="3473499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22"/>
          <p:cNvSpPr txBox="1"/>
          <p:nvPr/>
        </p:nvSpPr>
        <p:spPr>
          <a:xfrm>
            <a:off x="4472363" y="4229100"/>
            <a:ext cx="3247124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Type 2: Detailed</a:t>
            </a:r>
            <a:endParaRPr/>
          </a:p>
        </p:txBody>
      </p:sp>
      <p:sp>
        <p:nvSpPr>
          <p:cNvPr id="282" name="Google Shape;282;p22"/>
          <p:cNvSpPr txBox="1"/>
          <p:nvPr/>
        </p:nvSpPr>
        <p:spPr>
          <a:xfrm>
            <a:off x="4549675" y="4674840"/>
            <a:ext cx="3092499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Site visit, monitoring key equipment, +/- 20% accuracy.</a:t>
            </a:r>
            <a:endParaRPr/>
          </a:p>
        </p:txBody>
      </p:sp>
      <p:pic>
        <p:nvPicPr>
          <p:cNvPr descr="image.png" id="283" name="Google Shape;283;p2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137475" y="2133600"/>
            <a:ext cx="3473350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22"/>
          <p:cNvSpPr txBox="1"/>
          <p:nvPr/>
        </p:nvSpPr>
        <p:spPr>
          <a:xfrm>
            <a:off x="8250666" y="4229100"/>
            <a:ext cx="3246968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Type 3: Precision</a:t>
            </a:r>
            <a:endParaRPr/>
          </a:p>
        </p:txBody>
      </p:sp>
      <p:sp>
        <p:nvSpPr>
          <p:cNvPr id="285" name="Google Shape;285;p22"/>
          <p:cNvSpPr txBox="1"/>
          <p:nvPr/>
        </p:nvSpPr>
        <p:spPr>
          <a:xfrm>
            <a:off x="8327975" y="4674840"/>
            <a:ext cx="30923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Extensive data logging, computer simulation, +/- 10% accuracy.</a:t>
            </a:r>
            <a:endParaRPr/>
          </a:p>
        </p:txBody>
      </p:sp>
      <p:sp>
        <p:nvSpPr>
          <p:cNvPr id="286" name="Google Shape;286;p22"/>
          <p:cNvSpPr txBox="1"/>
          <p:nvPr/>
        </p:nvSpPr>
        <p:spPr>
          <a:xfrm>
            <a:off x="800100" y="571500"/>
            <a:ext cx="11361420" cy="479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Standards: Energy Audits (AS/NZS 3598)</a:t>
            </a:r>
            <a:endParaRPr/>
          </a:p>
        </p:txBody>
      </p:sp>
      <p:sp>
        <p:nvSpPr>
          <p:cNvPr id="287" name="Google Shape;287;p22"/>
          <p:cNvSpPr/>
          <p:nvPr/>
        </p:nvSpPr>
        <p:spPr>
          <a:xfrm>
            <a:off x="571500" y="571500"/>
            <a:ext cx="57150" cy="47997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2" name="Google Shape;29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3" name="Google Shape;293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432470"/>
            <a:ext cx="5286375" cy="4854029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23"/>
          <p:cNvSpPr txBox="1"/>
          <p:nvPr/>
        </p:nvSpPr>
        <p:spPr>
          <a:xfrm>
            <a:off x="571500" y="1432470"/>
            <a:ext cx="5550693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Understanding Efficiency</a:t>
            </a:r>
            <a:endParaRPr/>
          </a:p>
        </p:txBody>
      </p:sp>
      <p:sp>
        <p:nvSpPr>
          <p:cNvPr id="295" name="Google Shape;295;p23"/>
          <p:cNvSpPr txBox="1"/>
          <p:nvPr/>
        </p:nvSpPr>
        <p:spPr>
          <a:xfrm>
            <a:off x="571500" y="1878210"/>
            <a:ext cx="52863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Using less energy to perform the same task.</a:t>
            </a:r>
            <a:endParaRPr/>
          </a:p>
        </p:txBody>
      </p:sp>
      <p:sp>
        <p:nvSpPr>
          <p:cNvPr id="296" name="Google Shape;296;p23"/>
          <p:cNvSpPr txBox="1"/>
          <p:nvPr/>
        </p:nvSpPr>
        <p:spPr>
          <a:xfrm>
            <a:off x="571500" y="2323951"/>
            <a:ext cx="528637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GEMS Act: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Greenhouse and Energy Minimum Standards legislation.</a:t>
            </a:r>
            <a:endParaRPr/>
          </a:p>
        </p:txBody>
      </p:sp>
      <p:sp>
        <p:nvSpPr>
          <p:cNvPr id="297" name="Google Shape;297;p23"/>
          <p:cNvSpPr txBox="1"/>
          <p:nvPr/>
        </p:nvSpPr>
        <p:spPr>
          <a:xfrm>
            <a:off x="571500" y="3043981"/>
            <a:ext cx="528637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MEPS: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Minimum Energy Performance Standards. Products below this cannot be sold.</a:t>
            </a:r>
            <a:endParaRPr/>
          </a:p>
        </p:txBody>
      </p:sp>
      <p:sp>
        <p:nvSpPr>
          <p:cNvPr id="298" name="Google Shape;298;p23"/>
          <p:cNvSpPr txBox="1"/>
          <p:nvPr/>
        </p:nvSpPr>
        <p:spPr>
          <a:xfrm>
            <a:off x="571500" y="3764012"/>
            <a:ext cx="528637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Star Ratings: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Every extra star is approx. ~20% saving on running costs.</a:t>
            </a:r>
            <a:endParaRPr/>
          </a:p>
        </p:txBody>
      </p:sp>
      <p:pic>
        <p:nvPicPr>
          <p:cNvPr descr="image.png" id="299" name="Google Shape;299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432470"/>
            <a:ext cx="3724275" cy="27429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3"/>
          <p:cNvSpPr txBox="1"/>
          <p:nvPr/>
        </p:nvSpPr>
        <p:spPr>
          <a:xfrm>
            <a:off x="800100" y="571500"/>
            <a:ext cx="11361420" cy="479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System Efficiency &amp; GEMS</a:t>
            </a:r>
            <a:endParaRPr/>
          </a:p>
        </p:txBody>
      </p:sp>
      <p:sp>
        <p:nvSpPr>
          <p:cNvPr id="301" name="Google Shape;301;p23"/>
          <p:cNvSpPr/>
          <p:nvPr/>
        </p:nvSpPr>
        <p:spPr>
          <a:xfrm>
            <a:off x="571500" y="571500"/>
            <a:ext cx="57150" cy="47997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6" name="Google Shape;306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7" name="Google Shape;307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432470"/>
            <a:ext cx="5286375" cy="485402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8" name="Google Shape;308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432470"/>
            <a:ext cx="5286375" cy="4854029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24"/>
          <p:cNvSpPr txBox="1"/>
          <p:nvPr/>
        </p:nvSpPr>
        <p:spPr>
          <a:xfrm>
            <a:off x="962025" y="1822995"/>
            <a:ext cx="4730591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286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Writing Style</a:t>
            </a:r>
            <a:endParaRPr/>
          </a:p>
        </p:txBody>
      </p:sp>
      <p:sp>
        <p:nvSpPr>
          <p:cNvPr id="310" name="Google Shape;310;p24"/>
          <p:cNvSpPr txBox="1"/>
          <p:nvPr/>
        </p:nvSpPr>
        <p:spPr>
          <a:xfrm>
            <a:off x="6724650" y="1822995"/>
            <a:ext cx="4730591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286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Report Structure</a:t>
            </a:r>
            <a:endParaRPr/>
          </a:p>
        </p:txBody>
      </p:sp>
      <p:pic>
        <p:nvPicPr>
          <p:cNvPr descr="image.png" id="311" name="Google Shape;311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2025" y="183252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24"/>
          <p:cNvSpPr txBox="1"/>
          <p:nvPr/>
        </p:nvSpPr>
        <p:spPr>
          <a:xfrm>
            <a:off x="1057275" y="2382083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13" name="Google Shape;313;p24"/>
          <p:cNvSpPr txBox="1"/>
          <p:nvPr/>
        </p:nvSpPr>
        <p:spPr>
          <a:xfrm>
            <a:off x="1152525" y="2383035"/>
            <a:ext cx="43148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Objective Tone: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Factual and evidence-based.</a:t>
            </a:r>
            <a:endParaRPr/>
          </a:p>
        </p:txBody>
      </p:sp>
      <p:sp>
        <p:nvSpPr>
          <p:cNvPr id="314" name="Google Shape;314;p24"/>
          <p:cNvSpPr txBox="1"/>
          <p:nvPr/>
        </p:nvSpPr>
        <p:spPr>
          <a:xfrm>
            <a:off x="1057275" y="2770673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15" name="Google Shape;315;p24"/>
          <p:cNvSpPr txBox="1"/>
          <p:nvPr/>
        </p:nvSpPr>
        <p:spPr>
          <a:xfrm>
            <a:off x="1152525" y="2771626"/>
            <a:ext cx="43148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Audience: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Tailor language (Client vs Engineer).</a:t>
            </a:r>
            <a:endParaRPr/>
          </a:p>
        </p:txBody>
      </p:sp>
      <p:sp>
        <p:nvSpPr>
          <p:cNvPr id="316" name="Google Shape;316;p24"/>
          <p:cNvSpPr txBox="1"/>
          <p:nvPr/>
        </p:nvSpPr>
        <p:spPr>
          <a:xfrm>
            <a:off x="1057275" y="3159263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17" name="Google Shape;317;p24"/>
          <p:cNvSpPr txBox="1"/>
          <p:nvPr/>
        </p:nvSpPr>
        <p:spPr>
          <a:xfrm>
            <a:off x="1152525" y="3160216"/>
            <a:ext cx="43148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Active Voice: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"The technician tested the circuit" (Stronger).</a:t>
            </a:r>
            <a:endParaRPr/>
          </a:p>
        </p:txBody>
      </p:sp>
      <p:sp>
        <p:nvSpPr>
          <p:cNvPr id="318" name="Google Shape;318;p24"/>
          <p:cNvSpPr txBox="1"/>
          <p:nvPr/>
        </p:nvSpPr>
        <p:spPr>
          <a:xfrm>
            <a:off x="1057275" y="3822144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19" name="Google Shape;319;p24"/>
          <p:cNvSpPr txBox="1"/>
          <p:nvPr/>
        </p:nvSpPr>
        <p:spPr>
          <a:xfrm>
            <a:off x="1152525" y="3823096"/>
            <a:ext cx="43148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Clarity: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Avoid jargon; use bullet points.</a:t>
            </a:r>
            <a:endParaRPr/>
          </a:p>
        </p:txBody>
      </p:sp>
      <p:pic>
        <p:nvPicPr>
          <p:cNvPr descr="image.png" id="320" name="Google Shape;320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724650" y="183252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24"/>
          <p:cNvSpPr txBox="1"/>
          <p:nvPr/>
        </p:nvSpPr>
        <p:spPr>
          <a:xfrm>
            <a:off x="6819900" y="2382083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22" name="Google Shape;322;p24"/>
          <p:cNvSpPr txBox="1"/>
          <p:nvPr/>
        </p:nvSpPr>
        <p:spPr>
          <a:xfrm>
            <a:off x="6915150" y="2383035"/>
            <a:ext cx="43148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Executive Summary: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Summarizes findings for decision-makers.</a:t>
            </a:r>
            <a:endParaRPr/>
          </a:p>
        </p:txBody>
      </p:sp>
      <p:sp>
        <p:nvSpPr>
          <p:cNvPr id="323" name="Google Shape;323;p24"/>
          <p:cNvSpPr txBox="1"/>
          <p:nvPr/>
        </p:nvSpPr>
        <p:spPr>
          <a:xfrm>
            <a:off x="6819900" y="3044963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24" name="Google Shape;324;p24"/>
          <p:cNvSpPr txBox="1"/>
          <p:nvPr/>
        </p:nvSpPr>
        <p:spPr>
          <a:xfrm>
            <a:off x="6915150" y="3045916"/>
            <a:ext cx="43148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Methodology: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How data was collected.</a:t>
            </a:r>
            <a:endParaRPr/>
          </a:p>
        </p:txBody>
      </p:sp>
      <p:sp>
        <p:nvSpPr>
          <p:cNvPr id="325" name="Google Shape;325;p24"/>
          <p:cNvSpPr txBox="1"/>
          <p:nvPr/>
        </p:nvSpPr>
        <p:spPr>
          <a:xfrm>
            <a:off x="6819900" y="3433554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26" name="Google Shape;326;p24"/>
          <p:cNvSpPr txBox="1"/>
          <p:nvPr/>
        </p:nvSpPr>
        <p:spPr>
          <a:xfrm>
            <a:off x="6915150" y="3434506"/>
            <a:ext cx="43148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Findings: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Presentation of data/calculations.</a:t>
            </a:r>
            <a:endParaRPr/>
          </a:p>
        </p:txBody>
      </p:sp>
      <p:sp>
        <p:nvSpPr>
          <p:cNvPr id="327" name="Google Shape;327;p24"/>
          <p:cNvSpPr txBox="1"/>
          <p:nvPr/>
        </p:nvSpPr>
        <p:spPr>
          <a:xfrm>
            <a:off x="6819900" y="3822144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28" name="Google Shape;328;p24"/>
          <p:cNvSpPr txBox="1"/>
          <p:nvPr/>
        </p:nvSpPr>
        <p:spPr>
          <a:xfrm>
            <a:off x="6915150" y="3823096"/>
            <a:ext cx="43148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Recommendations: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Actionable steps with ROI.</a:t>
            </a:r>
            <a:endParaRPr/>
          </a:p>
        </p:txBody>
      </p:sp>
      <p:sp>
        <p:nvSpPr>
          <p:cNvPr id="329" name="Google Shape;329;p24"/>
          <p:cNvSpPr txBox="1"/>
          <p:nvPr/>
        </p:nvSpPr>
        <p:spPr>
          <a:xfrm>
            <a:off x="800100" y="571500"/>
            <a:ext cx="11361420" cy="479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Writing for the Energy Sector</a:t>
            </a:r>
            <a:endParaRPr/>
          </a:p>
        </p:txBody>
      </p:sp>
      <p:sp>
        <p:nvSpPr>
          <p:cNvPr id="330" name="Google Shape;330;p24"/>
          <p:cNvSpPr/>
          <p:nvPr/>
        </p:nvSpPr>
        <p:spPr>
          <a:xfrm>
            <a:off x="571500" y="571500"/>
            <a:ext cx="57150" cy="47997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35" name="Google Shape;33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25"/>
          <p:cNvSpPr txBox="1"/>
          <p:nvPr/>
        </p:nvSpPr>
        <p:spPr>
          <a:xfrm>
            <a:off x="1360408" y="1889819"/>
            <a:ext cx="9471183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Summary &amp; Next Steps</a:t>
            </a:r>
            <a:endParaRPr/>
          </a:p>
        </p:txBody>
      </p:sp>
      <p:sp>
        <p:nvSpPr>
          <p:cNvPr id="337" name="Google Shape;337;p25"/>
          <p:cNvSpPr txBox="1"/>
          <p:nvPr/>
        </p:nvSpPr>
        <p:spPr>
          <a:xfrm>
            <a:off x="1585912" y="4522440"/>
            <a:ext cx="90201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Questions?</a:t>
            </a:r>
            <a:endParaRPr/>
          </a:p>
        </p:txBody>
      </p:sp>
      <p:sp>
        <p:nvSpPr>
          <p:cNvPr id="338" name="Google Shape;338;p25"/>
          <p:cNvSpPr txBox="1"/>
          <p:nvPr/>
        </p:nvSpPr>
        <p:spPr>
          <a:xfrm>
            <a:off x="2286000" y="2975669"/>
            <a:ext cx="76200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524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Recap: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Covered NEM structure, AEMO/AER roles, energy math, and audit standards.</a:t>
            </a:r>
            <a:endParaRPr/>
          </a:p>
        </p:txBody>
      </p:sp>
      <p:sp>
        <p:nvSpPr>
          <p:cNvPr id="339" name="Google Shape;339;p25"/>
          <p:cNvSpPr txBox="1"/>
          <p:nvPr/>
        </p:nvSpPr>
        <p:spPr>
          <a:xfrm>
            <a:off x="2286000" y="3421409"/>
            <a:ext cx="76200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14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Relevance: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Essential skills for energy management and electrical trades.</a:t>
            </a:r>
            <a:endParaRPr/>
          </a:p>
        </p:txBody>
      </p:sp>
      <p:sp>
        <p:nvSpPr>
          <p:cNvPr id="340" name="Google Shape;340;p25"/>
          <p:cNvSpPr txBox="1"/>
          <p:nvPr/>
        </p:nvSpPr>
        <p:spPr>
          <a:xfrm>
            <a:off x="2286000" y="3867150"/>
            <a:ext cx="76200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14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Upcoming: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Analyze a sample energy bill and draft a Type 1 Audit.</a:t>
            </a:r>
            <a:endParaRPr/>
          </a:p>
        </p:txBody>
      </p:sp>
      <p:pic>
        <p:nvPicPr>
          <p:cNvPr descr="image.png" id="341" name="Google Shape;341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86000" y="3023294"/>
            <a:ext cx="1524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2" name="Google Shape;342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86000" y="3469034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3" name="Google Shape;343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286000" y="3914775"/>
            <a:ext cx="171450" cy="17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48" name="Google Shape;348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26"/>
          <p:cNvSpPr/>
          <p:nvPr/>
        </p:nvSpPr>
        <p:spPr>
          <a:xfrm>
            <a:off x="571500" y="2479476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26"/>
          <p:cNvSpPr/>
          <p:nvPr/>
        </p:nvSpPr>
        <p:spPr>
          <a:xfrm>
            <a:off x="571500" y="346233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26"/>
          <p:cNvSpPr/>
          <p:nvPr/>
        </p:nvSpPr>
        <p:spPr>
          <a:xfrm>
            <a:off x="571500" y="4445198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26"/>
          <p:cNvSpPr/>
          <p:nvPr/>
        </p:nvSpPr>
        <p:spPr>
          <a:xfrm>
            <a:off x="571500" y="5229969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53" name="Google Shape;353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853654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26"/>
          <p:cNvSpPr txBox="1"/>
          <p:nvPr/>
        </p:nvSpPr>
        <p:spPr>
          <a:xfrm>
            <a:off x="1666875" y="1847105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https://www.aemc.gov.au/sites/default/files/inline-images/NEM.png</a:t>
            </a:r>
            <a:endParaRPr/>
          </a:p>
        </p:txBody>
      </p:sp>
      <p:sp>
        <p:nvSpPr>
          <p:cNvPr id="355" name="Google Shape;355;p26"/>
          <p:cNvSpPr txBox="1"/>
          <p:nvPr/>
        </p:nvSpPr>
        <p:spPr>
          <a:xfrm>
            <a:off x="1666875" y="2092821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www.aemc.gov.au</a:t>
            </a:r>
            <a:endParaRPr/>
          </a:p>
        </p:txBody>
      </p:sp>
      <p:pic>
        <p:nvPicPr>
          <p:cNvPr descr="image.png" id="356" name="Google Shape;356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737544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26"/>
          <p:cNvSpPr txBox="1"/>
          <p:nvPr/>
        </p:nvSpPr>
        <p:spPr>
          <a:xfrm>
            <a:off x="1666875" y="2631876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https://media.istockphoto.com/id/1321274917/photo/battery-storage-power-station-accompanied-by-solar-and-wind-turbine-power-plants-3d-rendering.jpg?s=612x612&amp;w=0&amp;k=20&amp;c=M4Wfd-p5FbXU1NXp_be308uDMgfhbCYNO_dPse4FJLY=</a:t>
            </a:r>
            <a:endParaRPr/>
          </a:p>
        </p:txBody>
      </p:sp>
      <p:sp>
        <p:nvSpPr>
          <p:cNvPr id="358" name="Google Shape;358;p26"/>
          <p:cNvSpPr txBox="1"/>
          <p:nvPr/>
        </p:nvSpPr>
        <p:spPr>
          <a:xfrm>
            <a:off x="1666875" y="3075682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www.istockphoto.com</a:t>
            </a:r>
            <a:endParaRPr/>
          </a:p>
        </p:txBody>
      </p:sp>
      <p:pic>
        <p:nvPicPr>
          <p:cNvPr descr="image.png" id="359" name="Google Shape;359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72040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p26"/>
          <p:cNvSpPr txBox="1"/>
          <p:nvPr/>
        </p:nvSpPr>
        <p:spPr>
          <a:xfrm>
            <a:off x="1666875" y="3614737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https://media.istockphoto.com/id/1957093651/photo/an-inspector-reviews-a-large-industrial-plant-clipboard-in-hand.jpg?s=612x612&amp;w=0&amp;k=20&amp;c=HCSJZEhAXG2m_DEMcOCcNeJYNkUAkjotoG5TBSMSr0Y=</a:t>
            </a:r>
            <a:endParaRPr/>
          </a:p>
        </p:txBody>
      </p:sp>
      <p:sp>
        <p:nvSpPr>
          <p:cNvPr id="361" name="Google Shape;361;p26"/>
          <p:cNvSpPr txBox="1"/>
          <p:nvPr/>
        </p:nvSpPr>
        <p:spPr>
          <a:xfrm>
            <a:off x="1666875" y="4058542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www.istockphoto.com</a:t>
            </a:r>
            <a:endParaRPr/>
          </a:p>
        </p:txBody>
      </p:sp>
      <p:pic>
        <p:nvPicPr>
          <p:cNvPr descr="image.png" id="362" name="Google Shape;362;p2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604146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26"/>
          <p:cNvSpPr txBox="1"/>
          <p:nvPr/>
        </p:nvSpPr>
        <p:spPr>
          <a:xfrm>
            <a:off x="1666875" y="4597598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https://www.fescoenergy.com/app/uploads/2020/10/iStock-163716641.jpg.webp</a:t>
            </a:r>
            <a:endParaRPr/>
          </a:p>
        </p:txBody>
      </p:sp>
      <p:sp>
        <p:nvSpPr>
          <p:cNvPr id="364" name="Google Shape;364;p26"/>
          <p:cNvSpPr txBox="1"/>
          <p:nvPr/>
        </p:nvSpPr>
        <p:spPr>
          <a:xfrm>
            <a:off x="1666875" y="4843313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www.fescoenergy.com</a:t>
            </a:r>
            <a:endParaRPr/>
          </a:p>
        </p:txBody>
      </p:sp>
      <p:pic>
        <p:nvPicPr>
          <p:cNvPr descr="image.png" id="365" name="Google Shape;365;p2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538891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26"/>
          <p:cNvSpPr txBox="1"/>
          <p:nvPr/>
        </p:nvSpPr>
        <p:spPr>
          <a:xfrm>
            <a:off x="1666875" y="5382369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https://www.energyrating.gov.au/sites/default/files/2023-03/Label-Energy-Energy-Rating.png</a:t>
            </a:r>
            <a:endParaRPr/>
          </a:p>
        </p:txBody>
      </p:sp>
      <p:sp>
        <p:nvSpPr>
          <p:cNvPr id="367" name="Google Shape;367;p26"/>
          <p:cNvSpPr txBox="1"/>
          <p:nvPr/>
        </p:nvSpPr>
        <p:spPr>
          <a:xfrm>
            <a:off x="1666875" y="5628084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www.energyrating.gov.au</a:t>
            </a:r>
            <a:endParaRPr/>
          </a:p>
        </p:txBody>
      </p:sp>
      <p:sp>
        <p:nvSpPr>
          <p:cNvPr id="368" name="Google Shape;368;p26"/>
          <p:cNvSpPr txBox="1"/>
          <p:nvPr/>
        </p:nvSpPr>
        <p:spPr>
          <a:xfrm>
            <a:off x="800100" y="571500"/>
            <a:ext cx="11361420" cy="479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Image Sources</a:t>
            </a:r>
            <a:endParaRPr/>
          </a:p>
        </p:txBody>
      </p:sp>
      <p:sp>
        <p:nvSpPr>
          <p:cNvPr id="369" name="Google Shape;369;p26"/>
          <p:cNvSpPr/>
          <p:nvPr/>
        </p:nvSpPr>
        <p:spPr>
          <a:xfrm>
            <a:off x="571500" y="571500"/>
            <a:ext cx="57150" cy="47997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