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laying the groundwork for your practical career. In the Electrotechnology trade, your tools are an extension of your hands and your knowledge. We aren't just talking about buying a hammer; we are looking at how to select tools that meet Australian Standards, how to use them to create compliant installations, and most importantly, how to use them without injuring yourself or others. We will cover the three main pillars: Hand Tools, Power Tools, and Measuring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single tool, we must understand the law. Duty of Care isn't just a phrase; it's your legal liability. If you use a tool incorrectly and hurt a colleague, you are liable. We also need to look at the Hierarchy of Control. While we rely heavily on PPE like glasses and gloves, remember that PPE is the *least* effective control measure. Elimination of the hazard is always the priority. We will also discuss the SWMS—you will likely sign one of these every morning on a job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your daily carry. Your pliers are not hammers. Combination pliers need to grip effectively. When it comes to screwdrivers, fit is everything—using a Phillips tip in a Pozidriv screw will ruin the termination. Most importantly, look for the VDE certification on the handle. If a tool doesn't have the 1000V double-triangle symbol and thick insulation, it belongs in a carpenter's bag, not an electrician's. That insulation is the only thing separating you from a lethal shock if you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basics, we have specific tasks requiring specific tools. Crimping is a major one. A bad crimp creates a 'hot joint' which leads to fire. We use ratcheting crimpers to ensure the full cycle is completed. When cutting conduit or metal trunking, the 'burr'—that sharp edge left behind—is the enemy. If you pull a cable over a sharp edge, you strip the insulation before the power is even turned on. Specialized tools like knockout punches help us avoid these sharp edges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professional respects their tools. A screwdriver with cracked insulation is a lethal weapon. Before you put it in your pouch, look at it. Is the insulation intact? Is the tip rounded off? If your side cutters are dull, you have to squeeze harder, which means if you slip, you slip with more force. Keep them clean, keep them oiled, and if they break, bin them. Don't tape up a cracked handle—replace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power tools. The industry has largely shifted to cordless 18-volt systems. They are safer—no leads to trip over—and powerful. We look for 'Brushless' motors now because they are efficient and don't generate internal sparks. However, lithium batteries carry a huge amount of energy. If you drop a battery and crack the casing, it can catch fire hours later. Treat your batteries like expensive electronic equipment, not like bricks.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that look similar but act differently: The Impact Driver and the Hammer Drill. Do not use an impact driver to drill holes—it's for screws. Do not use a hammer drill to drive screws—you'll destroy the screw head. When drilling large holes, the drill can 'bite' or get stuck. If you aren't holding it correctly with the side handle, the drill body will spin instead of the bit, potentially breaking your wrist. Always use the clutch settings for delicate work like faceplates.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angle grinder is statistically one of the most dangerous tools on site. Never remove the guard. Never. Be aware of the 'kickback zone'—if the wheel jams, where will the tool fly? Also, we need to talk about dust. Silica dust from cutting concrete is the new asbestos. You cannot just cut dry and breathe that cloud. You must use vacuum extraction attached to the tool or wet-cutting methods, along with a fitted respirator.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using mains power tools, you are holding a potential shock hazard. Always plug into a portable RCD box, not just the wall socket—you don't know if the client's board is protected. Watch your leads; don't run them across walkways. Finally, check your tags. If the tag is out of date, or if it's the wrong color for the season (Red, Green, Blue, Yellow), you cannot use it on a commercial site. It’s that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is the difference between a hack job and a pro job. If your conduit runs downhill, the customer will assume your wiring is just as bad. We use lasers and spirit levels constantly. A note on tape measures: metal tapes conduct electricity. Be extremely careful measuring inside switchboards. And finally, the Multimeter. We will do a whole unit on this, but for now, know this: You use it to prove the circuit is dead. Test Before You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injury comes from the 'helicopter effect'—holding a small junction box in your hand and drilling into it. The drill grabs, the box spins, and the sharp plastic cuts your hand. Clamp it down. Use a vice. If you are up a ladder, secure your tools. A hammer dropped from 3 meters can kill someone wearing a hard hat. Tool lanyards are becoming mandatory on many commercial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Sustainability is part of the job. Copper is valuable—strip it and recycle it. PVC and steel conduit scraps should be sorted. Batteries are hazardous waste; they cause fires in garbage trucks. Take them to designated drop-off points. Also, material efficiency matters. Measure twice, cut once. A bin full of 2-meter cable off-cuts is a bin full of wasted money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your assessment and in the real world, the day starts with a Toolbox Talk. This isn't just a signature on a page. It's where we say, 'We are using grinders today, is everyone wearing a face shield?' or 'It's wet today, are our leads off the ground?' If you find a broken tool during this time, tag it out and report it. We are going to roleplay this scenario shortly for a conduit install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Don't improvise. If you need a hammer, go get a hammer, don't use your pliers. Respect the electricity by using VDE tools. Respect the power tools by keeping guards on and using dust extraction. And finally, take care of your gear. Your tools are your livelihood. If you look after them, they will look after you for your entire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there any questions? I highly recommend you start familiarizing yourself with the standards listed here. Don't throw away your tool manuals—read them. In our next session, bring your tool belts. We are going to the workshop to practice stripping cables without cutting the copper strands. Thank you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056D2"/>
          </a:solidFill>
          <a:ln/>
        </p:spPr>
      </p:sp>
      <p:sp>
        <p:nvSpPr>
          <p:cNvPr id="3" name="Shape 1"/>
          <p:cNvSpPr/>
          <p:nvPr/>
        </p:nvSpPr>
        <p:spPr>
          <a:xfrm>
            <a:off x="0" y="6720840"/>
            <a:ext cx="9144000" cy="137160"/>
          </a:xfrm>
          <a:prstGeom prst="rect">
            <a:avLst/>
          </a:prstGeom>
          <a:solidFill>
            <a:srgbClr val="111827"/>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1371600"/>
          </a:xfrm>
          <a:prstGeom prst="rect">
            <a:avLst/>
          </a:prstGeom>
          <a:noFill/>
          <a:ln/>
        </p:spPr>
        <p:txBody>
          <a:bodyPr wrap="square" rtlCol="0" anchor="ctr"/>
          <a:lstStyle/>
          <a:p>
            <a:pPr algn="ctr" indent="0" marL="0">
              <a:buNone/>
            </a:pPr>
            <a:r>
              <a:rPr lang="en-US" sz="4400" b="1" dirty="0">
                <a:solidFill>
                  <a:srgbClr val="0056D2"/>
                </a:solidFill>
                <a:latin typeface="Montserrat" pitchFamily="34" charset="0"/>
                <a:ea typeface="Montserrat" pitchFamily="34" charset="-122"/>
                <a:cs typeface="Montserrat" pitchFamily="34" charset="-120"/>
              </a:rPr>
              <a:t>Essential Hand and Power Tools for Electrotechnology</a:t>
            </a:r>
            <a:endParaRPr lang="en-US" sz="4400" dirty="0"/>
          </a:p>
        </p:txBody>
      </p:sp>
      <p:sp>
        <p:nvSpPr>
          <p:cNvPr id="3" name="Text 1"/>
          <p:cNvSpPr/>
          <p:nvPr/>
        </p:nvSpPr>
        <p:spPr>
          <a:xfrm>
            <a:off x="914400" y="3474720"/>
            <a:ext cx="7315200" cy="914400"/>
          </a:xfrm>
          <a:prstGeom prst="rect">
            <a:avLst/>
          </a:prstGeom>
          <a:noFill/>
          <a:ln/>
        </p:spPr>
        <p:txBody>
          <a:bodyPr wrap="square" rtlCol="0" anchor="ctr"/>
          <a:lstStyle/>
          <a:p>
            <a:pPr algn="ctr" indent="0" marL="0">
              <a:buNone/>
            </a:pPr>
            <a:r>
              <a:rPr lang="en-US" sz="1800" dirty="0">
                <a:solidFill>
                  <a:srgbClr val="1F2937"/>
                </a:solidFill>
                <a:latin typeface="Open Sans" pitchFamily="34" charset="0"/>
                <a:ea typeface="Open Sans" pitchFamily="34" charset="-122"/>
                <a:cs typeface="Open Sans" pitchFamily="34" charset="-120"/>
              </a:rPr>
              <a:t>TAFE Educator Content Generator</a:t>
            </a:r>
            <a:endParaRPr lang="en-US" sz="1800" dirty="0"/>
          </a:p>
        </p:txBody>
      </p:sp>
      <p:sp>
        <p:nvSpPr>
          <p:cNvPr id="4" name="Shape 2"/>
          <p:cNvSpPr/>
          <p:nvPr/>
        </p:nvSpPr>
        <p:spPr>
          <a:xfrm>
            <a:off x="4114800" y="3291840"/>
            <a:ext cx="914400" cy="45720"/>
          </a:xfrm>
          <a:prstGeom prst="rect">
            <a:avLst/>
          </a:prstGeom>
          <a:solidFill>
            <a:srgbClr val="FF99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Introduction to Electrotechnology Trade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This unit aligns with the UEE11 Training Package competency standards, establishing the foundation for professional trade practice.</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Selecting the correct tool is not merely a matter of convenience; it determines the quality of the installation and the safety of the operator.</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 skilled technician must balance work efficiency with absolute precision, ensuring no damage occurs to components or conductors.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The scope of this module covers essential hand tools, portable power tools, and introduction to measuring instruments required for daily electrical work.</a:t>
            </a:r>
            <a:endParaRPr lang="en-US" sz="1600" dirty="0"/>
          </a:p>
        </p:txBody>
      </p:sp>
      <p:sp>
        <p:nvSpPr>
          <p:cNvPr id="6" name="Text 3"/>
          <p:cNvSpPr/>
          <p:nvPr/>
        </p:nvSpPr>
        <p:spPr>
          <a:xfrm>
            <a:off x="530352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530352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high-definition, photorealistic collage set against a blurred workshop background. In the foreground, a worn but well-organized leather electrician's tool belt sits next to a modern 18V cordless drill and a Fluke digital multimeter. The lighting is industrial yet warm, highlighting the metallic textures and rubber grips.</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The title slide needs maximum impact. Use the photorealistic tool belt collage on the right half, ensuring it bleeds to the edge. The left text half should have a deep charcoal (secondary color) background with a subtle, high-tech circuit board pattern overlay. The main title should be in white, using the boldest weight of the heading font, with the accent color used for a dynamic underline element beneath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WHS/OHS &amp; Legislative Requirements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Under WHS legislation, every worker has a 'Duty of Care' to ensure their actions do not harm themselves or others.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Personal Protective Equipment (PPE) is the last line of defense; standard requirements include safety glasses, steel-capped boots, and hearing protection when using power tools.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Safe Work Method Statements (SWMS) are mandatory documents that identify high-risk construction work and detail the measures to control those risks.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All tools used in the trade must meet relevant Australian Standards (AS/NZS) to ensure they can withstand the rigors of the electrical environment.</a:t>
            </a:r>
            <a:endParaRPr lang="en-US" sz="1600" dirty="0"/>
          </a:p>
        </p:txBody>
      </p:sp>
      <p:sp>
        <p:nvSpPr>
          <p:cNvPr id="6" name="Text 3"/>
          <p:cNvSpPr/>
          <p:nvPr/>
        </p:nvSpPr>
        <p:spPr>
          <a:xfrm>
            <a:off x="45720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45720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clean, vector-style infographic of the 'Hierarchy of Hazard Controls' pyramid. The layers are color-coded (Red for Elimination at the top, down to Blue for PPE at the bottom). An icon of a circular saw represents the hazard, showing how controls are applied at each level.</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Place the Hierarchy of Controls pyramid infographic on the left. To make it pop, place it against a clean white background with a subtle drop shadow. The right-hand text section should use the light gray slide background. Emphasize the 'Duty of Care' point by putting it in a slightly larger font weight or adding a small shield icon next to it in the primary color.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Standard Electrical Hand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54864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Pliers are the primary trade tool; this includes combination pliers for gripping, long-nose pliers for fine manipulation, and side cutters for trimming conductors.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Screwdrivers must be selected based on the screw head type (Phillips, Flat, or Square Drive) to prevent stripping the head or damaging the tool.</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Wire strippers and cable knives are precision instruments designed to remove insulation without nicking or reducing the cross-sectional area of the copper conductor.</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VDE (Verband der Elektrotechnik) ratings are critical; insulated tools rated to 1000V are mandatory when working on or near live equipment.</a:t>
            </a:r>
            <a:endParaRPr lang="en-US" sz="1600" dirty="0"/>
          </a:p>
        </p:txBody>
      </p:sp>
      <p:sp>
        <p:nvSpPr>
          <p:cNvPr id="6" name="Text 3"/>
          <p:cNvSpPr/>
          <p:nvPr/>
        </p:nvSpPr>
        <p:spPr>
          <a:xfrm>
            <a:off x="6217920" y="1371600"/>
            <a:ext cx="27432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6217920" y="1828800"/>
            <a:ext cx="27432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technical diagram of a pair of high-voltage insulated combination pliers. Callout lines zoom in to show: 1. The '1000V' VDE stamp on the handle, 2. The dual-layer insulation cross-section, and 3. The precise alignment of the cutting jaws.</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Left column for text, right column for the VDE pliers technical diagram. The right column background should be slightly darker (e.g., a very light grey) to make the technical drawing stand out. Add a glowing accent-color border around the magnified '1000V' stamp callout in the infographic to draw the eye immediately to the safety rating.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Specialized Electrical Hand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Crimping tools are essential for creating gas-tight mechanical connections for lugs, bootlace ferrules, and RJ45 data plugs.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Conduit cutters and hacksaws are used for cable management pathways; cuts must be deburred to prevent damaging cable insulation during installation.</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Chassis punches and knockout tools provide a clean, circular hole in metal switchboards without the jagged edges associated with twist drills.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Cable hauling equipment, such as draw wires (snakes) and yellow tongue, are used to navigate cables through wall cavities and conduits.</a:t>
            </a:r>
            <a:endParaRPr lang="en-US" sz="1600" dirty="0"/>
          </a:p>
        </p:txBody>
      </p:sp>
      <p:sp>
        <p:nvSpPr>
          <p:cNvPr id="6" name="Text 3"/>
          <p:cNvSpPr/>
          <p:nvPr/>
        </p:nvSpPr>
        <p:spPr>
          <a:xfrm>
            <a:off x="530352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530352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split-screen macro visualization. Left side: A 'Good Crimp' showing a cross-section where wire strands and connector are fused into a solid mass. Right side: A 'Bad Crimp' showing air gaps between strands (under-crimped) or a crushed connector (over-crimped).</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Text on the left. The split-screen 'Good vs Bad Crimp' visualization on the right needs strong color coding. Use a vibrant green glow/border for the 'Good Crimp' side and an alarming red/orange glow for the 'Bad Crimp' side. Separating the two halves with a jagged 'electrical arc' line graphic would add visual interest.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Hand Tool Maintenance &amp; Inspection</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54864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Conduct a pre-use inspection every time; specifically check insulated handles for cracks, nicks, or chemical damage that compromises safety.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Cutting edges on pliers and knives must remain sharp; dull tools require excessive force, increasing the risk of slipping and injury.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Lubricate moving joints (such as the pivot point on pliers) regularly to ensure smooth operation and prevent corrosion.</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Any tool found to be faulty or damaged must be immediately removed from service and tagged 'Out of Service' to prevent use by others.</a:t>
            </a:r>
            <a:endParaRPr lang="en-US" sz="1600" dirty="0"/>
          </a:p>
        </p:txBody>
      </p:sp>
      <p:sp>
        <p:nvSpPr>
          <p:cNvPr id="6" name="Text 3"/>
          <p:cNvSpPr/>
          <p:nvPr/>
        </p:nvSpPr>
        <p:spPr>
          <a:xfrm>
            <a:off x="6217920" y="1371600"/>
            <a:ext cx="27432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6217920" y="1828800"/>
            <a:ext cx="27432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safety checklist graphic. The central image is a realistic screwdriver with visible cracks in the red insulation handle and a rusted tip. Red 'X' markers hover over these defects, while a green checkmark points to a pristine tool next to it.</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Left column for the safety checklist graphic, right for text. The graphic of the damaged screwdriver should be placed against a background that looks like a metal workshop pegboard. The red 'X' markers on the defects should pulse subtly. Use danger-stripe patterns (diagonal yellow/black) along the bottom edge of the slide.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Introduction to Power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Power tools are categorized by power source: Corded (Mains 240V) offer consistent power, while Cordless (Battery 18V/54V) offer portability and safety.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Brushless motor technology is the industry standard, offering longer runtimes, less maintenance, and no sparking compared to brushed motors.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Lithium-ion batteries require careful handling; they must be stored away from heat and moisture to prevent thermal runaway.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Understand voltage classes for site requirements; commercial sites often require 110V tools or strict RCD protection for 240V tools.</a:t>
            </a:r>
            <a:endParaRPr lang="en-US" sz="1600" dirty="0"/>
          </a:p>
        </p:txBody>
      </p:sp>
      <p:sp>
        <p:nvSpPr>
          <p:cNvPr id="6" name="Text 3"/>
          <p:cNvSpPr/>
          <p:nvPr/>
        </p:nvSpPr>
        <p:spPr>
          <a:xfrm>
            <a:off x="530352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530352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comparison chart titled 'Corded vs. Cordless'. On the left, a corded drill with a power cord plug icon (high power, unlimited runtime, trip hazard). On the right, a battery drill with a battery icon (portable, safer, limited runtime). A cutaway section shows the internal brushless motor coils.</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Text left, Comparison Chart right. Design the chart on the right to look like a modern technical spec sheet. Use a distinct central divider—perhaps a stylized lightning bolt transitioning from blue (corded) to orange (battery)—between the two halves of the chart. Highlight the 'Brushless motor' cutaway with a metallic sheen effect.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Drilling and Fastening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54864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Distinguish between Impact Drivers (rotational force for driving screws) and Hammer Drills (percussive force for drilling masonry).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Select the correct drill bit for the material: HSS for metal, Masonry (tungsten carbide tip) for brick/concrete, and Spade/Auger bits for timber.</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Utilize torque settings and clutch control on drills to drive screws flush without over-tightening and damaging the fixture.</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Operator safety is paramount; high-torque drills can bind in the material and twist the operator's wrist if the auxiliary handle is not used.</a:t>
            </a:r>
            <a:endParaRPr lang="en-US" sz="1600" dirty="0"/>
          </a:p>
        </p:txBody>
      </p:sp>
      <p:sp>
        <p:nvSpPr>
          <p:cNvPr id="6" name="Text 3"/>
          <p:cNvSpPr/>
          <p:nvPr/>
        </p:nvSpPr>
        <p:spPr>
          <a:xfrm>
            <a:off x="6217920" y="1371600"/>
            <a:ext cx="27432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6217920" y="1828800"/>
            <a:ext cx="27432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cross-section diagram of three drill bit tips. 1. Masonry (broad head, carbide wings) labeled 'Concrete/Brick'. 2. HSS (sharp point, fluted) labeled 'Metal/Plastic'. 3. Brad Point (sharp centering tip) labeled 'Wood'. Each bit is color-coded to a sample block of material.</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Left column for the Drill Bit cross-section infographic. Right column for text. Add subtle, translucent technical cross-hairs over the tips of the bits in the infographic to emphasize precision. Use small, corresponding bit icons next to the bullet points in the text section to link the text visually to the image.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Cutting and Grinding Power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Angle grinders are versatile but dangerous; correct disc selection (cutting vs. grinding), safety guard positioning, and two-handed operation are mandatory.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Reciprocating saws and oscillating multi-tools are standard for demolition and precision plaster cutting respectively.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Wall chasers (specialized twin-blade grinders) are used to cut channels for conduit in brickwork, ensuring consistent depth and width.</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Respiratory safety is critical; cutting masonry generates Respirable Crystalline Silica (RCS), necessitating H-Class dust extraction and P2 masks.</a:t>
            </a:r>
            <a:endParaRPr lang="en-US" sz="1600" dirty="0"/>
          </a:p>
        </p:txBody>
      </p:sp>
      <p:sp>
        <p:nvSpPr>
          <p:cNvPr id="6" name="Text 3"/>
          <p:cNvSpPr/>
          <p:nvPr/>
        </p:nvSpPr>
        <p:spPr>
          <a:xfrm>
            <a:off x="45720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45720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top-down safety diagram of an operator holding an angle grinder. The 'Kickback Zone' (the upper quadrant of the wheel) is highlighted in red. Green arrows indicate the direction of sparks away from the body. The guard position is highlighted in yellow between the hand and the wheel.</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This is a high-hazard slide. The angle grinder safety diagram on the left should be placed on a dark, 'warning zone' background (secondary color). The red 'Kickback Zone' and yellow guard highlights must be intensely bright and glowing. Add a bold 'DANGER: KICKBACK ZONE' warning label graphic above the diagram.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Electrical Safety with Power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54864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Water and electricity are a fatal combination; never use power tools in damp conditions unless they are specifically IP-rated for such use.</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Portable RCDs (Residual Current Devices) or 'safety switches' must be used at the supply point for any portable tool connected to mains power.</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Manage leads effectively to prevent trip hazards and protect the cable from damage by heavy machinery or sharp edges.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Adhere to AS/NZS 3760 for 'Test and Tag'; ensure all tools bear a current tag indicating they have passed electrical safety testing.</a:t>
            </a:r>
            <a:endParaRPr lang="en-US" sz="1600" dirty="0"/>
          </a:p>
        </p:txBody>
      </p:sp>
      <p:sp>
        <p:nvSpPr>
          <p:cNvPr id="6" name="Text 3"/>
          <p:cNvSpPr/>
          <p:nvPr/>
        </p:nvSpPr>
        <p:spPr>
          <a:xfrm>
            <a:off x="6217920" y="1371600"/>
            <a:ext cx="27432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6217920" y="1828800"/>
            <a:ext cx="27432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flow diagram illustrating the 'Test and Tag' process. Step 1: Eye icon (Visual Inspection). Step 2: Lightning bolt icon (Electrical Resistance/Earth Test). Step 3: A set of colored tags (Red, Green, Blue, Yellow) being applied to the cord based on the season.</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Text left, Test &amp; Tag flow diagram right. The flow diagram should be clean and process-driven. Connect the steps with thick, arrow-headed lines in the primary blue color. Add a subtle background watermark of a 'Safety Certified' stamp behind the entire diagram flow to reinforce compliance.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Measuring and Marking Tools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Tape measures used by electricians should ideally be non-conductive (fiberglass) to prevent short circuits if the tape touches live busbars.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Spirit levels and laser levels are essential for aesthetics; conduit and cable tray must be installed perfectly plumb and level.</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Chalk lines and pencils are used for setting out long runs; ensure marking materials do not permanently stain finished surfaces.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The Digital Multimeter (DMM) is the single most important safety tool; it is used to verify 'Zero Energy' before touching any conductor.</a:t>
            </a:r>
            <a:endParaRPr lang="en-US" sz="1600" dirty="0"/>
          </a:p>
        </p:txBody>
      </p:sp>
      <p:sp>
        <p:nvSpPr>
          <p:cNvPr id="6" name="Text 3"/>
          <p:cNvSpPr/>
          <p:nvPr/>
        </p:nvSpPr>
        <p:spPr>
          <a:xfrm>
            <a:off x="530352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530352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first-person view (POV) illustration looking down at a spirit level resting on a piece of white electrical PVC conduit. A magnified inset circle shows the yellow liquid bubble perfectly centered between the black hair-lines.</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Text left, POV spirit level illustration right. The POV shot should feel immersive. On the text side, emphasize the final point about the Digital Multimeter and 'Zero Energy' by placing that specific bullet point inside a prominent, colored text box with a small warning triangle icon.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Securing the Workpiece</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Never hold small components (like junction boxes) in your hand while drilling; if the bit binds, the object will spin, causing lacerations.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Utilize G-clamps, vices, or portable workbenches to stabilize materials; this ensures accuracy and prevents the tool from slipping.</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 stable workpiece allows for two-handed tool operation, significantly reducing operator fatigue and increasing control.</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When working at heights, tools must be secured with lanyards to prevent them from falling and injuring personnel below.</a:t>
            </a:r>
            <a:endParaRPr lang="en-US" sz="1600" dirty="0"/>
          </a:p>
        </p:txBody>
      </p:sp>
      <p:sp>
        <p:nvSpPr>
          <p:cNvPr id="6" name="Text 3"/>
          <p:cNvSpPr/>
          <p:nvPr/>
        </p:nvSpPr>
        <p:spPr>
          <a:xfrm>
            <a:off x="45720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45720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3D instructional illustration. The foreground shows a 'G-Clamp' firmly holding a square electrical junction box to a wooden workbench. A drill bit is poised above it. A 'Warning' icon in the corner shows a hand with a red cross through it holding the box directly.</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3D clamping illustration on the left, text on the right. The 3D illustration should have realistic lighting. Enhance the 'Warning' icon (hand holding box) in the corner of the graphic with a pulsing red glow. Add a subtle metallic texture overlay to the background of the left content block.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Sustainable Practice &amp; Waste Management</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54864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Responsible waste management involves sorting materials on-site: Copper wire, PVC insulation, and steel should be separated for recycling.</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Depleted power tool batteries contain heavy metals and must never be thrown in general waste; use dedicated battery recycling streams.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Minimize waste generation through accurate measuring and planning; reducing off-cuts saves money and reduces environmental impact.</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Maintain a 'Clean as You Go' policy to prevent environmental contamination and keep the workspace safe for other trades.</a:t>
            </a:r>
            <a:endParaRPr lang="en-US" sz="1600" dirty="0"/>
          </a:p>
        </p:txBody>
      </p:sp>
      <p:sp>
        <p:nvSpPr>
          <p:cNvPr id="6" name="Text 3"/>
          <p:cNvSpPr/>
          <p:nvPr/>
        </p:nvSpPr>
        <p:spPr>
          <a:xfrm>
            <a:off x="6217920" y="1371600"/>
            <a:ext cx="27432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6217920" y="1828800"/>
            <a:ext cx="27432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An isometric view of a recycling station with three distinct bins labeled 'Scrap Metal/Copper', 'General Waste', and 'Hazardous/Batteries'. Floating icons of stripped wire, lunch wrappers, and a drill battery are shown hovering above their respective correct bins.</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Text left, isometric recycling station right. The isometric illustration needs a clean, modern aesthetic. Use distinct color coding for the bins: Metallic copper for scrap, neutral grey for general waste, and vibrant orange with a hazard symbol for batteries. Add a subtle, organic leaf pattern overlay in a very light grey on the slide background to hint at sustainability.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Practical Assessment Prep: The Toolbox Talk</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45720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 'Toolbox Talk' is a brief safety briefing held before work commences to discuss the specific tasks and hazards of the day.</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Workers must identify hazards related to the tools they will use (e.g., noise, dust, vibration) and agree on control measures.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It is the responsibility of every worker to report defective equipment to supervisors immediately rather than ignoring it.</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Scenario: We will prepare for a conduit installation task by inspecting our hacksaws, drills, and PPE required for the specific environment.</a:t>
            </a:r>
            <a:endParaRPr lang="en-US" sz="1600" dirty="0"/>
          </a:p>
        </p:txBody>
      </p:sp>
      <p:sp>
        <p:nvSpPr>
          <p:cNvPr id="6" name="Text 3"/>
          <p:cNvSpPr/>
          <p:nvPr/>
        </p:nvSpPr>
        <p:spPr>
          <a:xfrm>
            <a:off x="5303520" y="1371600"/>
            <a:ext cx="36576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5303520" y="1828800"/>
            <a:ext cx="36576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comic-strip style graphic. Panel 1: A supervisor stands by a whiteboard pointing to 'Hazards: Dust, Noise'. Panel 2: A group of workers in high-vis gear checking their drills and ear muffs. Panel 3: Two workers signing a clipboard.</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Text left, Comic-strip infographic right. Frame the right-hand graphic explicitly as comic panels with bold black borders. Use stylized speech bubbles within the panels to highlight key actions like 'Identify Hazards' and 'Check PPE'. Give the whole comic section a slight halftone dot effect for a retro-modern feel.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Summary &amp; Key Takeaways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1371600" y="1371600"/>
            <a:ext cx="64008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Always select the right tool for the job; using a tool for an unintended purpose is the leading cause of trade injuries.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Insulated (VDE) hand tools are life-saving devices; never compromise on the quality or condition of your insulation.</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Power tool safety requires constant vigilance regarding guards, power cords, and battery handling.</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Maintenance is a sign of professionalism; clean, sharp, and well-oiled tools produce better work and keep you safe.</a:t>
            </a:r>
            <a:endParaRPr lang="en-US" sz="1600" dirty="0"/>
          </a:p>
        </p:txBody>
      </p:sp>
      <p:sp>
        <p:nvSpPr>
          <p:cNvPr id="6" name="Text 3"/>
          <p:cNvSpPr/>
          <p:nvPr/>
        </p:nvSpPr>
        <p:spPr>
          <a:xfrm>
            <a:off x="1371600" y="4572000"/>
            <a:ext cx="64008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1371600" y="5029200"/>
            <a:ext cx="6400800" cy="18288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circular 'Safety Cycle' diagram with five steps connected by arrows: 1. Select (Icon of hand picking tool), 2. Inspect (Magnifying glass), 3. Use Safely (Shield icon), 4. Maintain (Oil can icon), 5. Store (Toolbox icon).</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The 'Safety Cycle' circular diagram should be the central hero element, large and prominent. Make the connecting arrows dynamic, perhaps with a gradient flow from primary blue to accent orange, implying continuous motion. Place the four summary text points in clean, balanced columns directly below the central diagram.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800" b="1" dirty="0">
                <a:solidFill>
                  <a:srgbClr val="0056D2"/>
                </a:solidFill>
                <a:latin typeface="Montserrat" pitchFamily="34" charset="0"/>
                <a:ea typeface="Montserrat" pitchFamily="34" charset="-122"/>
                <a:cs typeface="Montserrat" pitchFamily="34" charset="-120"/>
              </a:rPr>
              <a:t>Questions &amp; References</a:t>
            </a:r>
            <a:endParaRPr lang="en-US" sz="2800" dirty="0"/>
          </a:p>
        </p:txBody>
      </p:sp>
      <p:sp>
        <p:nvSpPr>
          <p:cNvPr id="3" name="Shape 1"/>
          <p:cNvSpPr/>
          <p:nvPr/>
        </p:nvSpPr>
        <p:spPr>
          <a:xfrm>
            <a:off x="457200" y="1188720"/>
            <a:ext cx="8229600" cy="0"/>
          </a:xfrm>
          <a:prstGeom prst="line">
            <a:avLst/>
          </a:prstGeom>
          <a:noFill/>
          <a:ln w="25400">
            <a:solidFill>
              <a:srgbClr val="FF9900"/>
            </a:solidFill>
            <a:prstDash val="solid"/>
          </a:ln>
        </p:spPr>
      </p:sp>
      <p:sp>
        <p:nvSpPr>
          <p:cNvPr id="4" name="Text 2"/>
          <p:cNvSpPr/>
          <p:nvPr/>
        </p:nvSpPr>
        <p:spPr>
          <a:xfrm>
            <a:off x="457200" y="1371600"/>
            <a:ext cx="5486400" cy="4572000"/>
          </a:xfrm>
          <a:prstGeom prst="rect">
            <a:avLst/>
          </a:prstGeom>
          <a:noFill/>
          <a:ln/>
        </p:spPr>
        <p:txBody>
          <a:bodyPr wrap="square" rtlCol="0" anchor="t"/>
          <a:lstStyle/>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The floor is now open for any questions regarding tool selection, safety procedures, or specific brand recommendations.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Essential Reading: AS/NZS 3000 (The Wiring Rules) and AS/NZS 4836 (Safe working on or near low-voltage electrical installations).</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Always refer to the specific Manufacturer Guidelines and User Manuals for the tools you have purchased.</a:t>
            </a:r>
            <a:endParaRPr lang="en-US" sz="1600" dirty="0"/>
          </a:p>
          <a:p>
            <a:pPr indent="0" marL="0">
              <a:spcBef>
                <a:spcPts val="1000"/>
              </a:spcBef>
              <a:buNone/>
            </a:pPr>
            <a:r>
              <a:rPr lang="en-US" sz="1600" dirty="0">
                <a:solidFill>
                  <a:srgbClr val="1F2937"/>
                </a:solidFill>
                <a:latin typeface="Open Sans" pitchFamily="34" charset="0"/>
                <a:ea typeface="Open Sans" pitchFamily="34" charset="-122"/>
                <a:cs typeface="Open Sans" pitchFamily="34" charset="-120"/>
              </a:rPr>
              <a:t>Next Session: We will apply these tools in a practical workshop focusing on cable stripping and basic termination techniques.</a:t>
            </a:r>
            <a:endParaRPr lang="en-US" sz="1600" dirty="0"/>
          </a:p>
        </p:txBody>
      </p:sp>
      <p:sp>
        <p:nvSpPr>
          <p:cNvPr id="6" name="Text 3"/>
          <p:cNvSpPr/>
          <p:nvPr/>
        </p:nvSpPr>
        <p:spPr>
          <a:xfrm>
            <a:off x="6217920" y="1371600"/>
            <a:ext cx="2743200" cy="457200"/>
          </a:xfrm>
          <a:prstGeom prst="rect">
            <a:avLst/>
          </a:prstGeom>
          <a:noFill/>
          <a:ln/>
        </p:spPr>
        <p:txBody>
          <a:bodyPr wrap="square" rtlCol="0" anchor="ctr"/>
          <a:lstStyle/>
          <a:p>
            <a:pPr indent="0" marL="0">
              <a:buNone/>
            </a:pPr>
            <a:r>
              <a:rPr lang="en-US" sz="1400" b="1" dirty="0">
                <a:solidFill>
                  <a:srgbClr val="111827"/>
                </a:solidFill>
                <a:latin typeface="Open Sans" pitchFamily="34" charset="0"/>
                <a:ea typeface="Open Sans" pitchFamily="34" charset="-122"/>
                <a:cs typeface="Open Sans" pitchFamily="34" charset="-120"/>
              </a:rPr>
              <a:t>Visual Suggestion:</a:t>
            </a:r>
            <a:endParaRPr lang="en-US" sz="1400" dirty="0"/>
          </a:p>
        </p:txBody>
      </p:sp>
      <p:sp>
        <p:nvSpPr>
          <p:cNvPr id="7" name="Text 4"/>
          <p:cNvSpPr/>
          <p:nvPr/>
        </p:nvSpPr>
        <p:spPr>
          <a:xfrm>
            <a:off x="6217920" y="1828800"/>
            <a:ext cx="2743200" cy="3657600"/>
          </a:xfrm>
          <a:prstGeom prst="rect">
            <a:avLst/>
          </a:prstGeom>
          <a:solidFill>
            <a:srgbClr val="FFFFFF">
              <a:alpha val="50000"/>
            </a:srgbClr>
          </a:solidFill>
          <a:ln w="12700">
            <a:solidFill>
              <a:srgbClr val="FF9900"/>
            </a:solidFill>
            <a:prstDash val="dash"/>
          </a:ln>
        </p:spPr>
        <p:txBody>
          <a:bodyPr wrap="square" rtlCol="0" anchor="t"/>
          <a:lstStyle/>
          <a:p>
            <a:pPr indent="0" marL="0">
              <a:buNone/>
            </a:pPr>
            <a:r>
              <a:rPr lang="en-US" sz="1200" dirty="0">
                <a:solidFill>
                  <a:srgbClr val="1F2937"/>
                </a:solidFill>
                <a:latin typeface="Open Sans" pitchFamily="34" charset="0"/>
                <a:ea typeface="Open Sans" pitchFamily="34" charset="-122"/>
                <a:cs typeface="Open Sans" pitchFamily="34" charset="-120"/>
              </a:rPr>
              <a:t>A professional layout featuring a large QR code labeled 'Scan for Digital Safety Checklist'. Beside it are stylized icons representing a book (AS/NZS Standards), a User Manual, and a calendar icon highlighting the 'Next Session' date.</a:t>
            </a:r>
            <a:endParaRPr lang="en-US" sz="1200" dirty="0"/>
          </a:p>
          <a:p>
            <a:pPr indent="0" marL="0">
              <a:buNone/>
            </a:pPr>
            <a:endParaRPr lang="en-US" sz="1200" dirty="0"/>
          </a:p>
          <a:p>
            <a:pPr indent="0" marL="0">
              <a:buNone/>
            </a:pPr>
            <a:r>
              <a:rPr lang="en-US" sz="1200" dirty="0">
                <a:solidFill>
                  <a:srgbClr val="1F2937"/>
                </a:solidFill>
                <a:latin typeface="Open Sans" pitchFamily="34" charset="0"/>
                <a:ea typeface="Open Sans" pitchFamily="34" charset="-122"/>
                <a:cs typeface="Open Sans" pitchFamily="34" charset="-120"/>
              </a:rPr>
              <a:t>[Nano Banana Pro]: Left column for Q&amp;A and references text. Right column for the QR code and icons. The QR code should be large and scannable, framed with a border in the primary color. The icons for Standards and Manuals should be sleek and metallic style. Add a final professional touch: a solid footer bar in the primary color running across the bottom of the entire slide, featuring the presentation title in white text.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2025-11-27T09:58:32Z</dcterms:created>
  <dcterms:modified xsi:type="dcterms:W3CDTF">2025-11-27T09:58:32Z</dcterms:modified>
</cp:coreProperties>
</file>